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9" r:id="rId10"/>
    <p:sldId id="264" r:id="rId11"/>
    <p:sldId id="280" r:id="rId12"/>
    <p:sldId id="265" r:id="rId13"/>
    <p:sldId id="281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9144000" cy="514826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64730"/>
  </p:normalViewPr>
  <p:slideViewPr>
    <p:cSldViewPr snapToGrid="0">
      <p:cViewPr varScale="1">
        <p:scale>
          <a:sx n="105" d="100"/>
          <a:sy n="105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zhen Zhang" userId="44de45a064fed9fb" providerId="LiveId" clId="{45B46D79-1799-5A62-B06E-A6B8373C9DB8}"/>
    <pc:docChg chg="custSel delSld modSld">
      <pc:chgData name="Yizhen Zhang" userId="44de45a064fed9fb" providerId="LiveId" clId="{45B46D79-1799-5A62-B06E-A6B8373C9DB8}" dt="2026-10-23T05:22:07.841" v="641" actId="2696"/>
      <pc:docMkLst>
        <pc:docMk/>
      </pc:docMkLst>
      <pc:sldChg chg="modNotesTx">
        <pc:chgData name="Yizhen Zhang" userId="44de45a064fed9fb" providerId="LiveId" clId="{45B46D79-1799-5A62-B06E-A6B8373C9DB8}" dt="2026-10-23T05:21:21.785" v="616" actId="20577"/>
        <pc:sldMkLst>
          <pc:docMk/>
          <pc:sldMk cId="2117883714" sldId="256"/>
        </pc:sldMkLst>
      </pc:sldChg>
      <pc:sldChg chg="addSp delSp modSp mod modNotesTx">
        <pc:chgData name="Yizhen Zhang" userId="44de45a064fed9fb" providerId="LiveId" clId="{45B46D79-1799-5A62-B06E-A6B8373C9DB8}" dt="2026-10-23T05:21:23.383" v="617" actId="20577"/>
        <pc:sldMkLst>
          <pc:docMk/>
          <pc:sldMk cId="709884895" sldId="257"/>
        </pc:sldMkLst>
        <pc:spChg chg="mod">
          <ac:chgData name="Yizhen Zhang" userId="44de45a064fed9fb" providerId="LiveId" clId="{45B46D79-1799-5A62-B06E-A6B8373C9DB8}" dt="2026-10-10T09:24:04.826" v="10" actId="1036"/>
          <ac:spMkLst>
            <pc:docMk/>
            <pc:sldMk cId="709884895" sldId="257"/>
            <ac:spMk id="7" creationId="{27FD5AE4-CB60-432E-84FE-BF1944042F96}"/>
          </ac:spMkLst>
        </pc:spChg>
        <pc:spChg chg="add mod">
          <ac:chgData name="Yizhen Zhang" userId="44de45a064fed9fb" providerId="LiveId" clId="{45B46D79-1799-5A62-B06E-A6B8373C9DB8}" dt="2026-10-15T02:16:55.658" v="67" actId="1076"/>
          <ac:spMkLst>
            <pc:docMk/>
            <pc:sldMk cId="709884895" sldId="257"/>
            <ac:spMk id="14" creationId="{822D5186-4870-B980-7B74-E620646ED813}"/>
          </ac:spMkLst>
        </pc:spChg>
        <pc:picChg chg="add mod">
          <ac:chgData name="Yizhen Zhang" userId="44de45a064fed9fb" providerId="LiveId" clId="{45B46D79-1799-5A62-B06E-A6B8373C9DB8}" dt="2026-10-15T02:16:56.689" v="68" actId="1076"/>
          <ac:picMkLst>
            <pc:docMk/>
            <pc:sldMk cId="709884895" sldId="257"/>
            <ac:picMk id="12" creationId="{A03E5484-3D34-18E9-3A52-B280B6C35CB3}"/>
          </ac:picMkLst>
        </pc:picChg>
      </pc:sldChg>
      <pc:sldChg chg="addSp delSp modSp mod modNotesTx">
        <pc:chgData name="Yizhen Zhang" userId="44de45a064fed9fb" providerId="LiveId" clId="{45B46D79-1799-5A62-B06E-A6B8373C9DB8}" dt="2026-10-23T05:21:25.336" v="618" actId="20577"/>
        <pc:sldMkLst>
          <pc:docMk/>
          <pc:sldMk cId="1617070439" sldId="258"/>
        </pc:sldMkLst>
        <pc:picChg chg="add mod">
          <ac:chgData name="Yizhen Zhang" userId="44de45a064fed9fb" providerId="LiveId" clId="{45B46D79-1799-5A62-B06E-A6B8373C9DB8}" dt="2026-10-15T06:49:02.803" v="582" actId="1076"/>
          <ac:picMkLst>
            <pc:docMk/>
            <pc:sldMk cId="1617070439" sldId="258"/>
            <ac:picMk id="10" creationId="{C51C3AF2-E765-989F-2CED-671200E22512}"/>
          </ac:picMkLst>
        </pc:picChg>
      </pc:sldChg>
      <pc:sldChg chg="addSp delSp modSp mod modNotesTx">
        <pc:chgData name="Yizhen Zhang" userId="44de45a064fed9fb" providerId="LiveId" clId="{45B46D79-1799-5A62-B06E-A6B8373C9DB8}" dt="2026-10-23T05:21:27.707" v="619" actId="20577"/>
        <pc:sldMkLst>
          <pc:docMk/>
          <pc:sldMk cId="868708339" sldId="259"/>
        </pc:sldMkLst>
        <pc:picChg chg="add mod">
          <ac:chgData name="Yizhen Zhang" userId="44de45a064fed9fb" providerId="LiveId" clId="{45B46D79-1799-5A62-B06E-A6B8373C9DB8}" dt="2026-10-15T06:49:30.004" v="591" actId="1076"/>
          <ac:picMkLst>
            <pc:docMk/>
            <pc:sldMk cId="868708339" sldId="259"/>
            <ac:picMk id="11" creationId="{D4E89540-727A-54E9-7276-5D69903E44F0}"/>
          </ac:picMkLst>
        </pc:picChg>
      </pc:sldChg>
      <pc:sldChg chg="addSp modSp mod modNotesTx">
        <pc:chgData name="Yizhen Zhang" userId="44de45a064fed9fb" providerId="LiveId" clId="{45B46D79-1799-5A62-B06E-A6B8373C9DB8}" dt="2026-10-23T05:21:29.142" v="620" actId="20577"/>
        <pc:sldMkLst>
          <pc:docMk/>
          <pc:sldMk cId="1955054669" sldId="260"/>
        </pc:sldMkLst>
        <pc:spChg chg="add mod">
          <ac:chgData name="Yizhen Zhang" userId="44de45a064fed9fb" providerId="LiveId" clId="{45B46D79-1799-5A62-B06E-A6B8373C9DB8}" dt="2026-10-15T07:04:13.358" v="598" actId="1582"/>
          <ac:spMkLst>
            <pc:docMk/>
            <pc:sldMk cId="1955054669" sldId="260"/>
            <ac:spMk id="11" creationId="{1AE17875-2249-F668-8900-61B4AD5A5C76}"/>
          </ac:spMkLst>
        </pc:spChg>
        <pc:picChg chg="mod">
          <ac:chgData name="Yizhen Zhang" userId="44de45a064fed9fb" providerId="LiveId" clId="{45B46D79-1799-5A62-B06E-A6B8373C9DB8}" dt="2026-10-15T07:03:16.275" v="594" actId="14100"/>
          <ac:picMkLst>
            <pc:docMk/>
            <pc:sldMk cId="1955054669" sldId="260"/>
            <ac:picMk id="6" creationId="{9307F32E-AAAE-4366-AD13-11E770DAB2F3}"/>
          </ac:picMkLst>
        </pc:picChg>
      </pc:sldChg>
      <pc:sldChg chg="modNotesTx">
        <pc:chgData name="Yizhen Zhang" userId="44de45a064fed9fb" providerId="LiveId" clId="{45B46D79-1799-5A62-B06E-A6B8373C9DB8}" dt="2026-10-23T05:21:31.137" v="621" actId="20577"/>
        <pc:sldMkLst>
          <pc:docMk/>
          <pc:sldMk cId="1038050292" sldId="261"/>
        </pc:sldMkLst>
      </pc:sldChg>
      <pc:sldChg chg="modNotesTx">
        <pc:chgData name="Yizhen Zhang" userId="44de45a064fed9fb" providerId="LiveId" clId="{45B46D79-1799-5A62-B06E-A6B8373C9DB8}" dt="2026-10-23T05:21:33.105" v="622" actId="20577"/>
        <pc:sldMkLst>
          <pc:docMk/>
          <pc:sldMk cId="212347275" sldId="262"/>
        </pc:sldMkLst>
      </pc:sldChg>
      <pc:sldChg chg="modNotesTx">
        <pc:chgData name="Yizhen Zhang" userId="44de45a064fed9fb" providerId="LiveId" clId="{45B46D79-1799-5A62-B06E-A6B8373C9DB8}" dt="2026-10-23T05:21:35.015" v="623" actId="20577"/>
        <pc:sldMkLst>
          <pc:docMk/>
          <pc:sldMk cId="1827628912" sldId="263"/>
        </pc:sldMkLst>
      </pc:sldChg>
      <pc:sldChg chg="modNotesTx">
        <pc:chgData name="Yizhen Zhang" userId="44de45a064fed9fb" providerId="LiveId" clId="{45B46D79-1799-5A62-B06E-A6B8373C9DB8}" dt="2026-10-23T05:21:38.797" v="625" actId="20577"/>
        <pc:sldMkLst>
          <pc:docMk/>
          <pc:sldMk cId="866135755" sldId="264"/>
        </pc:sldMkLst>
      </pc:sldChg>
      <pc:sldChg chg="modNotesTx">
        <pc:chgData name="Yizhen Zhang" userId="44de45a064fed9fb" providerId="LiveId" clId="{45B46D79-1799-5A62-B06E-A6B8373C9DB8}" dt="2026-10-23T05:21:42.414" v="627" actId="20577"/>
        <pc:sldMkLst>
          <pc:docMk/>
          <pc:sldMk cId="803059412" sldId="265"/>
        </pc:sldMkLst>
      </pc:sldChg>
      <pc:sldChg chg="addSp delSp modSp mod modNotesTx">
        <pc:chgData name="Yizhen Zhang" userId="44de45a064fed9fb" providerId="LiveId" clId="{45B46D79-1799-5A62-B06E-A6B8373C9DB8}" dt="2026-10-23T05:21:46.240" v="629" actId="20577"/>
        <pc:sldMkLst>
          <pc:docMk/>
          <pc:sldMk cId="1940662808" sldId="266"/>
        </pc:sldMkLst>
        <pc:spChg chg="add mod">
          <ac:chgData name="Yizhen Zhang" userId="44de45a064fed9fb" providerId="LiveId" clId="{45B46D79-1799-5A62-B06E-A6B8373C9DB8}" dt="2026-10-10T09:25:17.066" v="22" actId="1076"/>
          <ac:spMkLst>
            <pc:docMk/>
            <pc:sldMk cId="1940662808" sldId="266"/>
            <ac:spMk id="13" creationId="{1DF80C2E-C88D-16C0-0954-1863554D6400}"/>
          </ac:spMkLst>
        </pc:spChg>
        <pc:picChg chg="add mod">
          <ac:chgData name="Yizhen Zhang" userId="44de45a064fed9fb" providerId="LiveId" clId="{45B46D79-1799-5A62-B06E-A6B8373C9DB8}" dt="2026-10-10T09:25:14.232" v="21" actId="1076"/>
          <ac:picMkLst>
            <pc:docMk/>
            <pc:sldMk cId="1940662808" sldId="266"/>
            <ac:picMk id="12" creationId="{09E6E446-BE7C-C10A-5557-DE66B013C18E}"/>
          </ac:picMkLst>
        </pc:picChg>
      </pc:sldChg>
      <pc:sldChg chg="modNotesTx">
        <pc:chgData name="Yizhen Zhang" userId="44de45a064fed9fb" providerId="LiveId" clId="{45B46D79-1799-5A62-B06E-A6B8373C9DB8}" dt="2026-10-23T05:21:48.161" v="630" actId="20577"/>
        <pc:sldMkLst>
          <pc:docMk/>
          <pc:sldMk cId="266635342" sldId="267"/>
        </pc:sldMkLst>
      </pc:sldChg>
      <pc:sldChg chg="modNotesTx">
        <pc:chgData name="Yizhen Zhang" userId="44de45a064fed9fb" providerId="LiveId" clId="{45B46D79-1799-5A62-B06E-A6B8373C9DB8}" dt="2026-10-23T05:21:50.161" v="631" actId="20577"/>
        <pc:sldMkLst>
          <pc:docMk/>
          <pc:sldMk cId="485528769" sldId="268"/>
        </pc:sldMkLst>
      </pc:sldChg>
      <pc:sldChg chg="modNotesTx">
        <pc:chgData name="Yizhen Zhang" userId="44de45a064fed9fb" providerId="LiveId" clId="{45B46D79-1799-5A62-B06E-A6B8373C9DB8}" dt="2026-10-23T05:21:52.179" v="632" actId="20577"/>
        <pc:sldMkLst>
          <pc:docMk/>
          <pc:sldMk cId="530916889" sldId="269"/>
        </pc:sldMkLst>
      </pc:sldChg>
      <pc:sldChg chg="modNotesTx">
        <pc:chgData name="Yizhen Zhang" userId="44de45a064fed9fb" providerId="LiveId" clId="{45B46D79-1799-5A62-B06E-A6B8373C9DB8}" dt="2026-10-23T05:21:54.299" v="633" actId="20577"/>
        <pc:sldMkLst>
          <pc:docMk/>
          <pc:sldMk cId="689975636" sldId="270"/>
        </pc:sldMkLst>
      </pc:sldChg>
      <pc:sldChg chg="modNotesTx">
        <pc:chgData name="Yizhen Zhang" userId="44de45a064fed9fb" providerId="LiveId" clId="{45B46D79-1799-5A62-B06E-A6B8373C9DB8}" dt="2026-10-23T05:21:56.866" v="634" actId="20577"/>
        <pc:sldMkLst>
          <pc:docMk/>
          <pc:sldMk cId="205702464" sldId="271"/>
        </pc:sldMkLst>
      </pc:sldChg>
      <pc:sldChg chg="modNotesTx">
        <pc:chgData name="Yizhen Zhang" userId="44de45a064fed9fb" providerId="LiveId" clId="{45B46D79-1799-5A62-B06E-A6B8373C9DB8}" dt="2026-10-23T05:21:59.061" v="635" actId="20577"/>
        <pc:sldMkLst>
          <pc:docMk/>
          <pc:sldMk cId="1663511240" sldId="272"/>
        </pc:sldMkLst>
      </pc:sldChg>
      <pc:sldChg chg="modNotesTx">
        <pc:chgData name="Yizhen Zhang" userId="44de45a064fed9fb" providerId="LiveId" clId="{45B46D79-1799-5A62-B06E-A6B8373C9DB8}" dt="2026-10-23T05:22:01.206" v="636" actId="20577"/>
        <pc:sldMkLst>
          <pc:docMk/>
          <pc:sldMk cId="1506311276" sldId="273"/>
        </pc:sldMkLst>
      </pc:sldChg>
      <pc:sldChg chg="del">
        <pc:chgData name="Yizhen Zhang" userId="44de45a064fed9fb" providerId="LiveId" clId="{45B46D79-1799-5A62-B06E-A6B8373C9DB8}" dt="2026-10-23T05:22:06.124" v="637" actId="2696"/>
        <pc:sldMkLst>
          <pc:docMk/>
          <pc:sldMk cId="1701837758" sldId="274"/>
        </pc:sldMkLst>
      </pc:sldChg>
      <pc:sldChg chg="del modNotesTx">
        <pc:chgData name="Yizhen Zhang" userId="44de45a064fed9fb" providerId="LiveId" clId="{45B46D79-1799-5A62-B06E-A6B8373C9DB8}" dt="2026-10-23T05:22:06.517" v="638" actId="2696"/>
        <pc:sldMkLst>
          <pc:docMk/>
          <pc:sldMk cId="1219007719" sldId="275"/>
        </pc:sldMkLst>
      </pc:sldChg>
      <pc:sldChg chg="del modNotesTx">
        <pc:chgData name="Yizhen Zhang" userId="44de45a064fed9fb" providerId="LiveId" clId="{45B46D79-1799-5A62-B06E-A6B8373C9DB8}" dt="2026-10-23T05:22:07.068" v="639" actId="2696"/>
        <pc:sldMkLst>
          <pc:docMk/>
          <pc:sldMk cId="1680023443" sldId="276"/>
        </pc:sldMkLst>
      </pc:sldChg>
      <pc:sldChg chg="del modNotesTx">
        <pc:chgData name="Yizhen Zhang" userId="44de45a064fed9fb" providerId="LiveId" clId="{45B46D79-1799-5A62-B06E-A6B8373C9DB8}" dt="2026-10-23T05:22:07.443" v="640" actId="2696"/>
        <pc:sldMkLst>
          <pc:docMk/>
          <pc:sldMk cId="115752020" sldId="277"/>
        </pc:sldMkLst>
      </pc:sldChg>
      <pc:sldChg chg="del modNotesTx">
        <pc:chgData name="Yizhen Zhang" userId="44de45a064fed9fb" providerId="LiveId" clId="{45B46D79-1799-5A62-B06E-A6B8373C9DB8}" dt="2026-10-23T05:22:07.841" v="641" actId="2696"/>
        <pc:sldMkLst>
          <pc:docMk/>
          <pc:sldMk cId="1387674464" sldId="278"/>
        </pc:sldMkLst>
      </pc:sldChg>
      <pc:sldChg chg="modNotesTx">
        <pc:chgData name="Yizhen Zhang" userId="44de45a064fed9fb" providerId="LiveId" clId="{45B46D79-1799-5A62-B06E-A6B8373C9DB8}" dt="2026-10-23T05:21:36.911" v="624" actId="20577"/>
        <pc:sldMkLst>
          <pc:docMk/>
          <pc:sldMk cId="981866944" sldId="279"/>
        </pc:sldMkLst>
      </pc:sldChg>
      <pc:sldChg chg="modNotesTx">
        <pc:chgData name="Yizhen Zhang" userId="44de45a064fed9fb" providerId="LiveId" clId="{45B46D79-1799-5A62-B06E-A6B8373C9DB8}" dt="2026-10-23T05:21:40.588" v="626" actId="20577"/>
        <pc:sldMkLst>
          <pc:docMk/>
          <pc:sldMk cId="1981249533" sldId="280"/>
        </pc:sldMkLst>
      </pc:sldChg>
      <pc:sldChg chg="addSp delSp modSp mod modNotesTx">
        <pc:chgData name="Yizhen Zhang" userId="44de45a064fed9fb" providerId="LiveId" clId="{45B46D79-1799-5A62-B06E-A6B8373C9DB8}" dt="2026-10-23T05:21:44.304" v="628" actId="20577"/>
        <pc:sldMkLst>
          <pc:docMk/>
          <pc:sldMk cId="1989239645" sldId="281"/>
        </pc:sldMkLst>
        <pc:spChg chg="mod">
          <ac:chgData name="Yizhen Zhang" userId="44de45a064fed9fb" providerId="LiveId" clId="{45B46D79-1799-5A62-B06E-A6B8373C9DB8}" dt="2026-10-15T04:34:52.701" v="389" actId="1076"/>
          <ac:spMkLst>
            <pc:docMk/>
            <pc:sldMk cId="1989239645" sldId="281"/>
            <ac:spMk id="7" creationId="{296F3724-92D0-406A-9A04-4400EF4AA848}"/>
          </ac:spMkLst>
        </pc:spChg>
        <pc:spChg chg="mod">
          <ac:chgData name="Yizhen Zhang" userId="44de45a064fed9fb" providerId="LiveId" clId="{45B46D79-1799-5A62-B06E-A6B8373C9DB8}" dt="2026-10-15T04:34:52.701" v="389" actId="1076"/>
          <ac:spMkLst>
            <pc:docMk/>
            <pc:sldMk cId="1989239645" sldId="281"/>
            <ac:spMk id="8" creationId="{93C776CA-176C-4098-BF47-DCC6C4F87F79}"/>
          </ac:spMkLst>
        </pc:spChg>
        <pc:spChg chg="mod">
          <ac:chgData name="Yizhen Zhang" userId="44de45a064fed9fb" providerId="LiveId" clId="{45B46D79-1799-5A62-B06E-A6B8373C9DB8}" dt="2026-10-15T04:34:58.713" v="390" actId="1076"/>
          <ac:spMkLst>
            <pc:docMk/>
            <pc:sldMk cId="1989239645" sldId="281"/>
            <ac:spMk id="9" creationId="{016B604A-256C-4329-9723-48D33A46E5A8}"/>
          </ac:spMkLst>
        </pc:spChg>
        <pc:spChg chg="mod">
          <ac:chgData name="Yizhen Zhang" userId="44de45a064fed9fb" providerId="LiveId" clId="{45B46D79-1799-5A62-B06E-A6B8373C9DB8}" dt="2026-10-15T04:34:58.713" v="390" actId="1076"/>
          <ac:spMkLst>
            <pc:docMk/>
            <pc:sldMk cId="1989239645" sldId="281"/>
            <ac:spMk id="10" creationId="{AD4366AE-D5B8-4511-B600-C377A59E6495}"/>
          </ac:spMkLst>
        </pc:spChg>
        <pc:spChg chg="mod">
          <ac:chgData name="Yizhen Zhang" userId="44de45a064fed9fb" providerId="LiveId" clId="{45B46D79-1799-5A62-B06E-A6B8373C9DB8}" dt="2026-10-15T04:35:02.012" v="391" actId="1076"/>
          <ac:spMkLst>
            <pc:docMk/>
            <pc:sldMk cId="1989239645" sldId="281"/>
            <ac:spMk id="11" creationId="{A2ADD95F-33F7-486E-8B42-47774CAE5D8F}"/>
          </ac:spMkLst>
        </pc:spChg>
        <pc:spChg chg="mod">
          <ac:chgData name="Yizhen Zhang" userId="44de45a064fed9fb" providerId="LiveId" clId="{45B46D79-1799-5A62-B06E-A6B8373C9DB8}" dt="2026-10-15T04:35:02.012" v="391" actId="1076"/>
          <ac:spMkLst>
            <pc:docMk/>
            <pc:sldMk cId="1989239645" sldId="281"/>
            <ac:spMk id="12" creationId="{C75D3C0D-27AB-46E1-A0EA-D4269A742024}"/>
          </ac:spMkLst>
        </pc:spChg>
        <pc:picChg chg="add mod">
          <ac:chgData name="Yizhen Zhang" userId="44de45a064fed9fb" providerId="LiveId" clId="{45B46D79-1799-5A62-B06E-A6B8373C9DB8}" dt="2026-10-15T04:36:02.712" v="413" actId="1038"/>
          <ac:picMkLst>
            <pc:docMk/>
            <pc:sldMk cId="1989239645" sldId="281"/>
            <ac:picMk id="15" creationId="{A14F6701-E75F-EC48-A22C-3A51559FE8C7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Single task</c:v>
          </c:tx>
          <c:spPr>
            <a:solidFill>
              <a:srgbClr val="90A4B5"/>
            </a:solidFill>
          </c:spPr>
          <c:invertIfNegative val="1"/>
          <c:cat>
            <c:strRef>
              <c:f>'Chart Data'!$A$2:$A$5</c:f>
              <c:strCache>
                <c:ptCount val="4"/>
                <c:pt idx="0">
                  <c:v>ARIS</c:v>
                </c:pt>
                <c:pt idx="1">
                  <c:v>GAIT</c:v>
                </c:pt>
                <c:pt idx="2">
                  <c:v>STAB</c:v>
                </c:pt>
                <c:pt idx="3">
                  <c:v>POST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0.62</c:v>
                </c:pt>
                <c:pt idx="1">
                  <c:v>0.45</c:v>
                </c:pt>
                <c:pt idx="2">
                  <c:v>0.27</c:v>
                </c:pt>
                <c:pt idx="3">
                  <c:v>0.56999999999999995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CEF-BF44-A542-FE701D992FB0}"/>
            </c:ext>
          </c:extLst>
        </c:ser>
        <c:ser>
          <c:idx val="1"/>
          <c:order val="1"/>
          <c:tx>
            <c:v>Dual task</c:v>
          </c:tx>
          <c:spPr>
            <a:solidFill>
              <a:srgbClr val="A78337"/>
            </a:solidFill>
          </c:spPr>
          <c:invertIfNegative val="1"/>
          <c:cat>
            <c:strRef>
              <c:f>'Chart Data'!$C$2:$C$5</c:f>
              <c:strCache>
                <c:ptCount val="4"/>
                <c:pt idx="0">
                  <c:v>ARIS</c:v>
                </c:pt>
                <c:pt idx="1">
                  <c:v>GAIT</c:v>
                </c:pt>
                <c:pt idx="2">
                  <c:v>STAB</c:v>
                </c:pt>
                <c:pt idx="3">
                  <c:v>POST</c:v>
                </c:pt>
              </c:strCache>
            </c:strRef>
          </c:cat>
          <c:val>
            <c:numRef>
              <c:f>'Chart Data'!$D$2:$D$5</c:f>
              <c:numCache>
                <c:formatCode>0.0</c:formatCode>
                <c:ptCount val="4"/>
                <c:pt idx="0">
                  <c:v>0.56999999999999995</c:v>
                </c:pt>
                <c:pt idx="1">
                  <c:v>0.42</c:v>
                </c:pt>
                <c:pt idx="2">
                  <c:v>0.44</c:v>
                </c:pt>
                <c:pt idx="3">
                  <c:v>0.47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CEF-BF44-A542-FE701D992FB0}"/>
            </c:ext>
          </c:extLst>
        </c:ser>
        <c:ser>
          <c:idx val="2"/>
          <c:order val="2"/>
          <c:tx>
            <c:v>ST + DT</c:v>
          </c:tx>
          <c:spPr>
            <a:solidFill>
              <a:srgbClr val="003974"/>
            </a:solidFill>
          </c:spPr>
          <c:invertIfNegative val="1"/>
          <c:cat>
            <c:strRef>
              <c:f>'Chart Data'!$E$2:$E$5</c:f>
              <c:strCache>
                <c:ptCount val="4"/>
                <c:pt idx="0">
                  <c:v>ARIS</c:v>
                </c:pt>
                <c:pt idx="1">
                  <c:v>GAIT</c:v>
                </c:pt>
                <c:pt idx="2">
                  <c:v>STAB</c:v>
                </c:pt>
                <c:pt idx="3">
                  <c:v>POST</c:v>
                </c:pt>
              </c:strCache>
            </c:strRef>
          </c:cat>
          <c:val>
            <c:numRef>
              <c:f>'Chart Data'!$F$2:$F$5</c:f>
              <c:numCache>
                <c:formatCode>0.0</c:formatCode>
                <c:ptCount val="4"/>
                <c:pt idx="0">
                  <c:v>0.6</c:v>
                </c:pt>
                <c:pt idx="1">
                  <c:v>0.71</c:v>
                </c:pt>
                <c:pt idx="2">
                  <c:v>0.57999999999999996</c:v>
                </c:pt>
                <c:pt idx="3">
                  <c:v>0.61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5CEF-BF44-A542-FE701D992F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9AA5AF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3E7EB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50112"/>
        <c:crosses val="autoZero"/>
        <c:crossBetween val="between"/>
        <c:majorUnit val="0.2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202020"/>
              </a:solidFill>
              <a:latin typeface="Calibri"/>
              <a:ea typeface="Calibri"/>
              <a:cs typeface="Calibri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Macro-F1</c:v>
          </c:tx>
          <c:spPr>
            <a:solidFill>
              <a:srgbClr val="003974"/>
            </a:solidFill>
          </c:spPr>
          <c:invertIfNegative val="1"/>
          <c:dPt>
            <c:idx val="4"/>
            <c:invertIfNegative val="0"/>
            <c:bubble3D val="0"/>
            <c:spPr>
              <a:solidFill>
                <a:srgbClr val="A78337"/>
              </a:solidFill>
            </c:spPr>
            <c:extLst>
              <c:ext xmlns:c16="http://schemas.microsoft.com/office/drawing/2014/chart" uri="{C3380CC4-5D6E-409C-BE32-E72D297353CC}">
                <c16:uniqueId val="{00000001-3EF9-6446-B214-4C3096266B50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1">
                    <a:solidFill>
                      <a:srgbClr val="202020"/>
                    </a:solidFill>
                    <a:latin typeface="Calibri"/>
                    <a:ea typeface="Calibri"/>
                    <a:cs typeface="Calibr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EN+SVM</c:v>
                </c:pt>
                <c:pt idx="1">
                  <c:v>Ordinal
regression</c:v>
                </c:pt>
                <c:pt idx="2">
                  <c:v>ResNet
concat</c:v>
                </c:pt>
                <c:pt idx="3">
                  <c:v>LIMU-
BERT</c:v>
                </c:pt>
                <c:pt idx="4">
                  <c:v>Ours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0.62</c:v>
                </c:pt>
                <c:pt idx="1">
                  <c:v>0.66</c:v>
                </c:pt>
                <c:pt idx="2">
                  <c:v>0.7</c:v>
                </c:pt>
                <c:pt idx="3">
                  <c:v>0.54</c:v>
                </c:pt>
                <c:pt idx="4">
                  <c:v>0.87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3EF9-6446-B214-4C3096266B5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9AA5AF"/>
            </a:solidFill>
          </a:ln>
        </c:spPr>
        <c:txPr>
          <a:bodyPr anchorCtr="1"/>
          <a:lstStyle/>
          <a:p>
            <a:pPr>
              <a:defRPr sz="12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3E7EB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50112"/>
        <c:crosses val="autoZero"/>
        <c:crossBetween val="between"/>
        <c:majorUnit val="0.2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Macro-F1</c:v>
          </c:tx>
          <c:spPr>
            <a:solidFill>
              <a:srgbClr val="003974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425" b="1">
                    <a:solidFill>
                      <a:srgbClr val="202020"/>
                    </a:solidFill>
                    <a:latin typeface="Calibri"/>
                    <a:ea typeface="Calibri"/>
                    <a:cs typeface="Calibr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Concat</c:v>
                </c:pt>
                <c:pt idx="1">
                  <c:v>+ Pairing</c:v>
                </c:pt>
                <c:pt idx="2">
                  <c:v>+ AWTH</c:v>
                </c:pt>
                <c:pt idx="3">
                  <c:v>+ CDAN</c:v>
                </c:pt>
                <c:pt idx="4">
                  <c:v>Prior-
CDAN</c:v>
                </c:pt>
                <c:pt idx="5">
                  <c:v>+ Ordinal
continuity</c:v>
                </c:pt>
              </c:strCache>
            </c:str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0.55000000000000004</c:v>
                </c:pt>
                <c:pt idx="1">
                  <c:v>0.61</c:v>
                </c:pt>
                <c:pt idx="2">
                  <c:v>0.66</c:v>
                </c:pt>
                <c:pt idx="3">
                  <c:v>0.66</c:v>
                </c:pt>
                <c:pt idx="4">
                  <c:v>0.68</c:v>
                </c:pt>
                <c:pt idx="5">
                  <c:v>0.75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577-F64A-BA21-FD3B9FD12DB8}"/>
            </c:ext>
          </c:extLst>
        </c:ser>
        <c:ser>
          <c:idx val="1"/>
          <c:order val="1"/>
          <c:tx>
            <c:v>MAE</c:v>
          </c:tx>
          <c:spPr>
            <a:solidFill>
              <a:srgbClr val="A78337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425" b="1">
                    <a:solidFill>
                      <a:srgbClr val="202020"/>
                    </a:solidFill>
                    <a:latin typeface="Calibri"/>
                    <a:ea typeface="Calibri"/>
                    <a:cs typeface="Calibr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Data'!$C$2:$C$7</c:f>
              <c:strCache>
                <c:ptCount val="6"/>
                <c:pt idx="0">
                  <c:v>Concat</c:v>
                </c:pt>
                <c:pt idx="1">
                  <c:v>+ Pairing</c:v>
                </c:pt>
                <c:pt idx="2">
                  <c:v>+ AWTH</c:v>
                </c:pt>
                <c:pt idx="3">
                  <c:v>+ CDAN</c:v>
                </c:pt>
                <c:pt idx="4">
                  <c:v>Prior-
CDAN</c:v>
                </c:pt>
                <c:pt idx="5">
                  <c:v>+ Ordinal
continuity</c:v>
                </c:pt>
              </c:strCache>
            </c:strRef>
          </c:cat>
          <c:val>
            <c:numRef>
              <c:f>'Chart Data'!$D$2:$D$7</c:f>
              <c:numCache>
                <c:formatCode>0.0</c:formatCode>
                <c:ptCount val="6"/>
                <c:pt idx="0">
                  <c:v>0.56999999999999995</c:v>
                </c:pt>
                <c:pt idx="1">
                  <c:v>0.55000000000000004</c:v>
                </c:pt>
                <c:pt idx="2">
                  <c:v>0.43</c:v>
                </c:pt>
                <c:pt idx="3">
                  <c:v>0.41</c:v>
                </c:pt>
                <c:pt idx="4">
                  <c:v>0.35</c:v>
                </c:pt>
                <c:pt idx="5">
                  <c:v>0.3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A577-F64A-BA21-FD3B9FD12DB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9AA5AF"/>
            </a:solidFill>
          </a:ln>
        </c:spPr>
        <c:txPr>
          <a:bodyPr anchorCtr="1"/>
          <a:lstStyle/>
          <a:p>
            <a:pPr>
              <a:defRPr sz="142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3E7EB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50112"/>
        <c:crosses val="autoZero"/>
        <c:crossBetween val="between"/>
        <c:majorUnit val="0.2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202020"/>
              </a:solidFill>
              <a:latin typeface="Calibri"/>
              <a:ea typeface="Calibri"/>
              <a:cs typeface="Calibri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Average macro-F1</c:v>
          </c:tx>
          <c:spPr>
            <a:solidFill>
              <a:srgbClr val="003974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1">
                    <a:solidFill>
                      <a:srgbClr val="202020"/>
                    </a:solidFill>
                    <a:latin typeface="Calibri"/>
                    <a:ea typeface="Calibri"/>
                    <a:cs typeface="Calibr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2 m</c:v>
                </c:pt>
                <c:pt idx="1">
                  <c:v>3 m</c:v>
                </c:pt>
                <c:pt idx="2">
                  <c:v>4 m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0.94</c:v>
                </c:pt>
                <c:pt idx="1">
                  <c:v>0.86</c:v>
                </c:pt>
                <c:pt idx="2">
                  <c:v>0.79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85C-5048-8904-387E7F2EB09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9AA5AF"/>
            </a:solidFill>
          </a:ln>
        </c:spPr>
        <c:txPr>
          <a:bodyPr anchorCtr="1"/>
          <a:lstStyle/>
          <a:p>
            <a:pPr>
              <a:defRPr sz="1575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3E7EB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50112"/>
        <c:crosses val="autoZero"/>
        <c:crossBetween val="between"/>
        <c:majorUnit val="0.2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Average macro-F1</c:v>
          </c:tx>
          <c:spPr>
            <a:solidFill>
              <a:srgbClr val="A78337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1">
                    <a:solidFill>
                      <a:srgbClr val="202020"/>
                    </a:solidFill>
                    <a:latin typeface="Calibri"/>
                    <a:ea typeface="Calibri"/>
                    <a:cs typeface="Calibr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All</c:v>
                </c:pt>
                <c:pt idx="1">
                  <c:v>No lumbar</c:v>
                </c:pt>
                <c:pt idx="2">
                  <c:v>No left</c:v>
                </c:pt>
                <c:pt idx="3">
                  <c:v>No right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0.87</c:v>
                </c:pt>
                <c:pt idx="1">
                  <c:v>0.62</c:v>
                </c:pt>
                <c:pt idx="2">
                  <c:v>0.77</c:v>
                </c:pt>
                <c:pt idx="3">
                  <c:v>0.71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0C3-154E-A419-61A10ACADE0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9AA5AF"/>
            </a:solidFill>
          </a:ln>
        </c:spPr>
        <c:txPr>
          <a:bodyPr anchorCtr="1"/>
          <a:lstStyle/>
          <a:p>
            <a:pPr>
              <a:defRPr sz="135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3E7EB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endParaRPr lang="zh-CN"/>
          </a:p>
        </c:txPr>
        <c:crossAx val="48650112"/>
        <c:crosses val="autoZero"/>
        <c:crossBetween val="between"/>
        <c:majorUnit val="0.2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435749C-0BC9-4E2C-8108-9D9B95DB7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944827"/>
            <a:ext cx="7315200" cy="74361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F72C597-80A3-4BE9-958E-3E8A97FBA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831440"/>
            <a:ext cx="6400800" cy="57200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4DF0837-F311-4C96-9C9C-AA0684C2A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145030"/>
            <a:ext cx="7315200" cy="85801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538A3FE-E625-497F-9BF2-3066DCD63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400406"/>
            <a:ext cx="8115300" cy="62920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4E20F3A-8AA3-4ADC-98D6-A886AAA9E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430020"/>
            <a:ext cx="8115300" cy="320324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4106915-7FCB-4CD6-BD63-9FE525A22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400406"/>
            <a:ext cx="8115300" cy="62920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3ABCCFE-BD5B-47F1-A1E2-E1DA78451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430020"/>
            <a:ext cx="3771900" cy="320324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BE7D090-FA68-483B-9731-0D0660ECB86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57750" y="1430020"/>
            <a:ext cx="3771900" cy="320324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602E63D-9B1C-45DA-B9D0-D241ECC30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400406"/>
            <a:ext cx="8115300" cy="62920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8B93190-CA5A-437E-9A8F-D98F20738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430020"/>
            <a:ext cx="3771900" cy="320324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77B6680D-A698-4936-BE41-6EF05A65D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4300" y="116563"/>
            <a:ext cx="819150" cy="814624"/>
          </a:xfrm>
          <a:prstGeom prst="rect">
            <a:avLst/>
          </a:prstGeom>
        </p:spPr>
      </p:pic>
      <p:sp>
        <p:nvSpPr>
          <p:cNvPr id="2" name="body">
            <a:extLst>
              <a:ext uri="{FF2B5EF4-FFF2-40B4-BE49-F238E27FC236}">
                <a16:creationId xmlns:a16="http://schemas.microsoft.com/office/drawing/2014/main" id="{DF936304-8EA5-41C5-A1E3-FCDAF48F8EA6}"/>
              </a:ext>
            </a:extLst>
          </p:cNvPr>
          <p:cNvSpPr>
            <a:spLocks noGrp="1"/>
          </p:cNvSpPr>
          <p:nvPr/>
        </p:nvSpPr>
        <p:spPr>
          <a:xfrm>
            <a:off x="1104900" y="342900"/>
            <a:ext cx="3619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1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175" b="1" dirty="0" err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UbiComp</a:t>
            </a:r>
            <a:r>
              <a:rPr sz="2175" b="1" dirty="0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 2026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C7AA577-4591-4350-8DDC-BBE2EE69E526}"/>
              </a:ext>
            </a:extLst>
          </p:cNvPr>
          <p:cNvSpPr>
            <a:spLocks noGrp="1"/>
          </p:cNvSpPr>
          <p:nvPr/>
        </p:nvSpPr>
        <p:spPr>
          <a:xfrm>
            <a:off x="342900" y="1381125"/>
            <a:ext cx="8458200" cy="1362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813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PIGDAssess: Wearable Dual-Task Sensing</a:t>
            </a:r>
          </a:p>
          <a:p>
            <a:pPr algn="ctr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813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for Self-Administered PIGD Assessment</a:t>
            </a:r>
          </a:p>
          <a:p>
            <a:pPr algn="ctr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813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in Parkinson’s Disease</a:t>
            </a:r>
          </a:p>
        </p:txBody>
      </p:sp>
      <p:sp>
        <p:nvSpPr>
          <p:cNvPr id="4" name="authors">
            <a:extLst>
              <a:ext uri="{FF2B5EF4-FFF2-40B4-BE49-F238E27FC236}">
                <a16:creationId xmlns:a16="http://schemas.microsoft.com/office/drawing/2014/main" id="{30DE7DAC-05D3-4443-8C60-15FC3CA5F381}"/>
              </a:ext>
            </a:extLst>
          </p:cNvPr>
          <p:cNvSpPr>
            <a:spLocks noGrp="1"/>
          </p:cNvSpPr>
          <p:nvPr/>
        </p:nvSpPr>
        <p:spPr>
          <a:xfrm>
            <a:off x="666750" y="2895600"/>
            <a:ext cx="7810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80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Yizhen Zhang</a:t>
            </a:r>
            <a:r>
              <a:rPr sz="180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¹, Jinjian Wang¹, Wentao Xie¹, Qingyong Hu¹,</a:t>
            </a:r>
          </a:p>
          <a:p>
            <a:pPr algn="ctr">
              <a:defRPr sz="180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Haiyan Hu¹, Guihua Li², Qian Zhang¹</a:t>
            </a:r>
          </a:p>
        </p:txBody>
      </p:sp>
      <p:sp>
        <p:nvSpPr>
          <p:cNvPr id="5" name="affiliations">
            <a:extLst>
              <a:ext uri="{FF2B5EF4-FFF2-40B4-BE49-F238E27FC236}">
                <a16:creationId xmlns:a16="http://schemas.microsoft.com/office/drawing/2014/main" id="{5AA9F60A-F4D7-4334-9B95-A2182CA68315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76581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50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¹ The Hong Kong University of Science and Technology</a:t>
            </a:r>
          </a:p>
          <a:p>
            <a:pPr algn="ctr">
              <a:defRPr sz="150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² Guangdong Second Provincial General Hospital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E343261-4BAB-4BA2-84B1-28711C8B8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19316" y="4191000"/>
            <a:ext cx="2257369" cy="7239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4D21ED3-C185-4F8E-9162-D9F5E5FF10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895975" y="4171950"/>
            <a:ext cx="752475" cy="75247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B07514F-01AF-48D8-9132-FDB5984D15DD}"/>
              </a:ext>
            </a:extLst>
          </p:cNvPr>
          <p:cNvSpPr>
            <a:spLocks noGrp="1"/>
          </p:cNvSpPr>
          <p:nvPr/>
        </p:nvSpPr>
        <p:spPr>
          <a:xfrm>
            <a:off x="0" y="4951286"/>
            <a:ext cx="4572000" cy="196787"/>
          </a:xfrm>
          <a:prstGeom prst="rect">
            <a:avLst/>
          </a:prstGeom>
          <a:solidFill>
            <a:srgbClr val="A7833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EF35FD-8384-46EE-AF88-215D5E837A91}"/>
              </a:ext>
            </a:extLst>
          </p:cNvPr>
          <p:cNvSpPr>
            <a:spLocks noGrp="1"/>
          </p:cNvSpPr>
          <p:nvPr/>
        </p:nvSpPr>
        <p:spPr>
          <a:xfrm>
            <a:off x="4572000" y="4951286"/>
            <a:ext cx="4572000" cy="196787"/>
          </a:xfrm>
          <a:prstGeom prst="rect">
            <a:avLst/>
          </a:prstGeom>
          <a:solidFill>
            <a:srgbClr val="00397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1280597B-2030-44B7-90B2-55E7A59FF2A0}"/>
              </a:ext>
            </a:extLst>
          </p:cNvPr>
          <p:cNvSpPr>
            <a:spLocks noGrp="1"/>
          </p:cNvSpPr>
          <p:nvPr/>
        </p:nvSpPr>
        <p:spPr>
          <a:xfrm>
            <a:off x="8743950" y="4962525"/>
            <a:ext cx="2667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7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17883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6667C23E-E85B-47D4-A53B-E37A4F6510C3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953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813" b="1" dirty="0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PIGD Needs Frequent Assessment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64BE978-D6A6-4A95-874E-D6E78760D037}"/>
              </a:ext>
            </a:extLst>
          </p:cNvPr>
          <p:cNvSpPr>
            <a:spLocks noGrp="1"/>
          </p:cNvSpPr>
          <p:nvPr/>
        </p:nvSpPr>
        <p:spPr>
          <a:xfrm>
            <a:off x="95250" y="561975"/>
            <a:ext cx="8934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Postural instability and gait difficulty affect standing, walking, and fall risk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8B6F474-BC6C-469D-BDCA-955650CC5B12}"/>
              </a:ext>
            </a:extLst>
          </p:cNvPr>
          <p:cNvSpPr>
            <a:spLocks noGrp="1"/>
          </p:cNvSpPr>
          <p:nvPr/>
        </p:nvSpPr>
        <p:spPr>
          <a:xfrm>
            <a:off x="0" y="4951286"/>
            <a:ext cx="4572000" cy="196787"/>
          </a:xfrm>
          <a:prstGeom prst="rect">
            <a:avLst/>
          </a:prstGeom>
          <a:solidFill>
            <a:srgbClr val="A7833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95E192-659C-4FE1-B008-DBA77E612CC5}"/>
              </a:ext>
            </a:extLst>
          </p:cNvPr>
          <p:cNvSpPr>
            <a:spLocks noGrp="1"/>
          </p:cNvSpPr>
          <p:nvPr/>
        </p:nvSpPr>
        <p:spPr>
          <a:xfrm>
            <a:off x="4572000" y="4951286"/>
            <a:ext cx="4572000" cy="196787"/>
          </a:xfrm>
          <a:prstGeom prst="rect">
            <a:avLst/>
          </a:prstGeom>
          <a:solidFill>
            <a:srgbClr val="00397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B748F529-6EB6-4D4E-9EF0-DD8F300C44B0}"/>
              </a:ext>
            </a:extLst>
          </p:cNvPr>
          <p:cNvSpPr>
            <a:spLocks noGrp="1"/>
          </p:cNvSpPr>
          <p:nvPr/>
        </p:nvSpPr>
        <p:spPr>
          <a:xfrm>
            <a:off x="8743950" y="4962525"/>
            <a:ext cx="2667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7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CF95BCD5-34A2-4AEC-A63A-ED686994CFBD}"/>
              </a:ext>
            </a:extLst>
          </p:cNvPr>
          <p:cNvSpPr>
            <a:spLocks noGrp="1"/>
          </p:cNvSpPr>
          <p:nvPr/>
        </p:nvSpPr>
        <p:spPr>
          <a:xfrm>
            <a:off x="476250" y="1285875"/>
            <a:ext cx="376237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1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Clinic visits give</a:t>
            </a:r>
          </a:p>
          <a:p>
            <a:pPr algn="l">
              <a:defRPr sz="21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intermittent snapshots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27FD5AE4-CB60-432E-84FE-BF1944042F96}"/>
              </a:ext>
            </a:extLst>
          </p:cNvPr>
          <p:cNvSpPr>
            <a:spLocks noGrp="1"/>
          </p:cNvSpPr>
          <p:nvPr/>
        </p:nvSpPr>
        <p:spPr>
          <a:xfrm>
            <a:off x="476250" y="2316119"/>
            <a:ext cx="3857625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7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75" b="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Frequent measurements support</a:t>
            </a:r>
          </a:p>
          <a:p>
            <a:pPr algn="l">
              <a:defRPr sz="187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75" b="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treatment review between visits.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F198208E-E86A-48D8-8E5D-A46A96EB7B07}"/>
              </a:ext>
            </a:extLst>
          </p:cNvPr>
          <p:cNvSpPr>
            <a:spLocks noGrp="1"/>
          </p:cNvSpPr>
          <p:nvPr/>
        </p:nvSpPr>
        <p:spPr>
          <a:xfrm>
            <a:off x="476250" y="3314700"/>
            <a:ext cx="39052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7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Patients need a repeatable</a:t>
            </a:r>
          </a:p>
          <a:p>
            <a:pPr algn="l">
              <a:defRPr sz="187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home assessment.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03E5484-3D34-18E9-3A52-B280B6C35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1397129"/>
            <a:ext cx="3935275" cy="28194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822D5186-4870-B980-7B74-E620646ED813}"/>
              </a:ext>
            </a:extLst>
          </p:cNvPr>
          <p:cNvSpPr txBox="1"/>
          <p:nvPr/>
        </p:nvSpPr>
        <p:spPr>
          <a:xfrm>
            <a:off x="4762502" y="4216529"/>
            <a:ext cx="4632158" cy="334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lang="en" altLang="zh-CN" sz="1575" dirty="0">
                <a:solidFill>
                  <a:srgbClr val="202020"/>
                </a:solidFill>
                <a:latin typeface="Calibri"/>
                <a:cs typeface="Calibri"/>
              </a:rPr>
              <a:t>PIGD Needs Frequent Assessment</a:t>
            </a:r>
          </a:p>
        </p:txBody>
      </p:sp>
    </p:spTree>
    <p:extLst>
      <p:ext uri="{BB962C8B-B14F-4D97-AF65-F5344CB8AC3E}">
        <p14:creationId xmlns:p14="http://schemas.microsoft.com/office/powerpoint/2010/main" val="709884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8A5AEE2D-AF37-4FE7-A8D2-7FCD7FC56B27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953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813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Clinical PIGD Assessment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4256722-D507-48EC-955F-B88033A51A9C}"/>
              </a:ext>
            </a:extLst>
          </p:cNvPr>
          <p:cNvSpPr>
            <a:spLocks noGrp="1"/>
          </p:cNvSpPr>
          <p:nvPr/>
        </p:nvSpPr>
        <p:spPr>
          <a:xfrm>
            <a:off x="95250" y="561975"/>
            <a:ext cx="8934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Four UPDRS motor items describe different aspects of axial function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AFFF0EF-EDA9-44CF-BF50-FA838553646F}"/>
              </a:ext>
            </a:extLst>
          </p:cNvPr>
          <p:cNvSpPr>
            <a:spLocks noGrp="1"/>
          </p:cNvSpPr>
          <p:nvPr/>
        </p:nvSpPr>
        <p:spPr>
          <a:xfrm>
            <a:off x="0" y="4951286"/>
            <a:ext cx="4572000" cy="196787"/>
          </a:xfrm>
          <a:prstGeom prst="rect">
            <a:avLst/>
          </a:prstGeom>
          <a:solidFill>
            <a:srgbClr val="A7833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2E708F-E2F6-43D0-853F-AA45F7272D0B}"/>
              </a:ext>
            </a:extLst>
          </p:cNvPr>
          <p:cNvSpPr>
            <a:spLocks noGrp="1"/>
          </p:cNvSpPr>
          <p:nvPr/>
        </p:nvSpPr>
        <p:spPr>
          <a:xfrm>
            <a:off x="4572000" y="4951286"/>
            <a:ext cx="4572000" cy="196787"/>
          </a:xfrm>
          <a:prstGeom prst="rect">
            <a:avLst/>
          </a:prstGeom>
          <a:solidFill>
            <a:srgbClr val="00397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9C17AA94-378E-42B3-BFAD-24BBBCF78C9A}"/>
              </a:ext>
            </a:extLst>
          </p:cNvPr>
          <p:cNvSpPr>
            <a:spLocks noGrp="1"/>
          </p:cNvSpPr>
          <p:nvPr/>
        </p:nvSpPr>
        <p:spPr>
          <a:xfrm>
            <a:off x="8743950" y="4962525"/>
            <a:ext cx="2667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7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2F55AB1-065C-4248-B2FE-0CAC5951CAA4}"/>
              </a:ext>
            </a:extLst>
          </p:cNvPr>
          <p:cNvGraphicFramePr/>
          <p:nvPr/>
        </p:nvGraphicFramePr>
        <p:xfrm>
          <a:off x="381000" y="3124200"/>
          <a:ext cx="8382000" cy="100965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3974"/>
                          </a:solidFill>
                          <a:latin typeface="Calibri"/>
                          <a:ea typeface="Calibri"/>
                          <a:cs typeface="Calibri"/>
                        </a:rPr>
                        <a:t>3.9 ARIS</a:t>
                      </a:r>
                    </a:p>
                  </a:txBody>
                  <a:tcPr marL="85725" marR="85725" marT="76200" marB="76200" anchor="ctr"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3974"/>
                          </a:solidFill>
                          <a:latin typeface="Calibri"/>
                          <a:ea typeface="Calibri"/>
                          <a:cs typeface="Calibri"/>
                        </a:rPr>
                        <a:t>3.10 GAIT</a:t>
                      </a:r>
                    </a:p>
                  </a:txBody>
                  <a:tcPr marL="85725" marR="85725" marT="76200" marB="76200" anchor="ctr"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3974"/>
                          </a:solidFill>
                          <a:latin typeface="Calibri"/>
                          <a:ea typeface="Calibri"/>
                          <a:cs typeface="Calibri"/>
                        </a:rPr>
                        <a:t>3.12 STAB</a:t>
                      </a:r>
                    </a:p>
                  </a:txBody>
                  <a:tcPr marL="85725" marR="85725" marT="76200" marB="76200" anchor="ctr"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3974"/>
                          </a:solidFill>
                          <a:latin typeface="Calibri"/>
                          <a:ea typeface="Calibri"/>
                          <a:cs typeface="Calibri"/>
                        </a:rPr>
                        <a:t>3.13 POST</a:t>
                      </a:r>
                    </a:p>
                  </a:txBody>
                  <a:tcPr marL="85725" marR="85725" marT="76200" marB="76200" anchor="ctr"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Arising from chair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Gait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Postural stability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Posture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5C4F87F5-23CC-49C9-B397-F6A6A7B3004C}"/>
              </a:ext>
            </a:extLst>
          </p:cNvPr>
          <p:cNvSpPr>
            <a:spLocks noGrp="1"/>
          </p:cNvSpPr>
          <p:nvPr/>
        </p:nvSpPr>
        <p:spPr>
          <a:xfrm>
            <a:off x="666750" y="4410075"/>
            <a:ext cx="7810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The clinician observes each item and assigns a severity score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51C3AF2-E765-989F-2CED-671200E22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" y="1086550"/>
            <a:ext cx="8382000" cy="194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070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3E50872E-E862-4D1F-8E1D-AF6550C1821A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953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813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The Pull Test Limits Home Self-Assessment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F13AECA-0660-4D8E-9508-5AC207A98F46}"/>
              </a:ext>
            </a:extLst>
          </p:cNvPr>
          <p:cNvSpPr>
            <a:spLocks noGrp="1"/>
          </p:cNvSpPr>
          <p:nvPr/>
        </p:nvSpPr>
        <p:spPr>
          <a:xfrm>
            <a:off x="95250" y="561975"/>
            <a:ext cx="8934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Postural stability usually requires a clinician to perturb the patient’s balance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4595F8A-2698-41DD-A00A-50EAF8456D2E}"/>
              </a:ext>
            </a:extLst>
          </p:cNvPr>
          <p:cNvSpPr>
            <a:spLocks noGrp="1"/>
          </p:cNvSpPr>
          <p:nvPr/>
        </p:nvSpPr>
        <p:spPr>
          <a:xfrm>
            <a:off x="0" y="4951286"/>
            <a:ext cx="4572000" cy="196787"/>
          </a:xfrm>
          <a:prstGeom prst="rect">
            <a:avLst/>
          </a:prstGeom>
          <a:solidFill>
            <a:srgbClr val="A7833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78BB0A-7492-4A37-BBBB-E41B6EED2B3F}"/>
              </a:ext>
            </a:extLst>
          </p:cNvPr>
          <p:cNvSpPr>
            <a:spLocks noGrp="1"/>
          </p:cNvSpPr>
          <p:nvPr/>
        </p:nvSpPr>
        <p:spPr>
          <a:xfrm>
            <a:off x="4572000" y="4951286"/>
            <a:ext cx="4572000" cy="196787"/>
          </a:xfrm>
          <a:prstGeom prst="rect">
            <a:avLst/>
          </a:prstGeom>
          <a:solidFill>
            <a:srgbClr val="00397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0D339292-7645-4623-8308-D8E8B9DE70A0}"/>
              </a:ext>
            </a:extLst>
          </p:cNvPr>
          <p:cNvSpPr>
            <a:spLocks noGrp="1"/>
          </p:cNvSpPr>
          <p:nvPr/>
        </p:nvSpPr>
        <p:spPr>
          <a:xfrm>
            <a:off x="8743950" y="4962525"/>
            <a:ext cx="2667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7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FEAB988B-D28E-4F9B-BCE8-EF115199F83D}"/>
              </a:ext>
            </a:extLst>
          </p:cNvPr>
          <p:cNvSpPr>
            <a:spLocks noGrp="1"/>
          </p:cNvSpPr>
          <p:nvPr/>
        </p:nvSpPr>
        <p:spPr>
          <a:xfrm>
            <a:off x="4686300" y="1304925"/>
            <a:ext cx="3876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1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A backward pull requires</a:t>
            </a:r>
          </a:p>
          <a:p>
            <a:pPr algn="l">
              <a:defRPr sz="21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physical assistance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4E241A70-C114-4FB9-993D-EC3669AC3D44}"/>
              </a:ext>
            </a:extLst>
          </p:cNvPr>
          <p:cNvSpPr>
            <a:spLocks noGrp="1"/>
          </p:cNvSpPr>
          <p:nvPr/>
        </p:nvSpPr>
        <p:spPr>
          <a:xfrm>
            <a:off x="4686300" y="2352675"/>
            <a:ext cx="3905250" cy="923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95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Home movements must reveal</a:t>
            </a:r>
          </a:p>
          <a:p>
            <a:pPr algn="l">
              <a:defRPr sz="195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clinically meaningful balance deficits.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68453C19-39C0-4167-919E-C0D51D6D0AAD}"/>
              </a:ext>
            </a:extLst>
          </p:cNvPr>
          <p:cNvSpPr>
            <a:spLocks noGrp="1"/>
          </p:cNvSpPr>
          <p:nvPr/>
        </p:nvSpPr>
        <p:spPr>
          <a:xfrm>
            <a:off x="4686300" y="3638550"/>
            <a:ext cx="4000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32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Can cognitive load provide</a:t>
            </a:r>
          </a:p>
          <a:p>
            <a:pPr algn="l">
              <a:defRPr sz="232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a useful balance probe?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4E89540-727A-54E9-7276-5D69903E4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77" y="1446406"/>
            <a:ext cx="3326070" cy="262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708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A9423D2E-E26C-4361-A984-587C8C2FEC5F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953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813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Observation: Dual-Task Sensing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1693879-F262-4445-BB70-EF0E8EEF9E73}"/>
              </a:ext>
            </a:extLst>
          </p:cNvPr>
          <p:cNvSpPr>
            <a:spLocks noGrp="1"/>
          </p:cNvSpPr>
          <p:nvPr/>
        </p:nvSpPr>
        <p:spPr>
          <a:xfrm>
            <a:off x="95250" y="561975"/>
            <a:ext cx="8934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Combining single-task and dual-task features improves PIGD estimation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228AB7-66FD-4638-A72D-B753AA3366E8}"/>
              </a:ext>
            </a:extLst>
          </p:cNvPr>
          <p:cNvSpPr>
            <a:spLocks noGrp="1"/>
          </p:cNvSpPr>
          <p:nvPr/>
        </p:nvSpPr>
        <p:spPr>
          <a:xfrm>
            <a:off x="0" y="4951286"/>
            <a:ext cx="4572000" cy="196787"/>
          </a:xfrm>
          <a:prstGeom prst="rect">
            <a:avLst/>
          </a:prstGeom>
          <a:solidFill>
            <a:srgbClr val="A7833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11B58E6-4E8E-446B-9106-D0104ED41F17}"/>
              </a:ext>
            </a:extLst>
          </p:cNvPr>
          <p:cNvSpPr>
            <a:spLocks noGrp="1"/>
          </p:cNvSpPr>
          <p:nvPr/>
        </p:nvSpPr>
        <p:spPr>
          <a:xfrm>
            <a:off x="4572000" y="4951286"/>
            <a:ext cx="4572000" cy="196787"/>
          </a:xfrm>
          <a:prstGeom prst="rect">
            <a:avLst/>
          </a:prstGeom>
          <a:solidFill>
            <a:srgbClr val="00397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19E9EECA-8288-4061-B2D6-4C578A9C264A}"/>
              </a:ext>
            </a:extLst>
          </p:cNvPr>
          <p:cNvSpPr>
            <a:spLocks noGrp="1"/>
          </p:cNvSpPr>
          <p:nvPr/>
        </p:nvSpPr>
        <p:spPr>
          <a:xfrm>
            <a:off x="8743950" y="4962525"/>
            <a:ext cx="2667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7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307F32E-AAAE-4366-AD13-11E770DAB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9689" y="1009650"/>
            <a:ext cx="3898951" cy="2647950"/>
          </a:xfrm>
          <a:prstGeom prst="rect">
            <a:avLst/>
          </a:prstGeom>
        </p:spPr>
      </p:pic>
      <p:sp>
        <p:nvSpPr>
          <p:cNvPr id="7" name="body">
            <a:extLst>
              <a:ext uri="{FF2B5EF4-FFF2-40B4-BE49-F238E27FC236}">
                <a16:creationId xmlns:a16="http://schemas.microsoft.com/office/drawing/2014/main" id="{F7458B56-F95F-4D72-92FF-4021F8F8E4BC}"/>
              </a:ext>
            </a:extLst>
          </p:cNvPr>
          <p:cNvSpPr>
            <a:spLocks noGrp="1"/>
          </p:cNvSpPr>
          <p:nvPr/>
        </p:nvSpPr>
        <p:spPr>
          <a:xfrm>
            <a:off x="400050" y="3895725"/>
            <a:ext cx="3429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Cognitive load</a:t>
            </a:r>
          </a:p>
          <a:p>
            <a:pPr algn="ctr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probes balance control</a:t>
            </a:r>
          </a:p>
        </p:txBody>
      </p:sp>
      <p:graphicFrame>
        <p:nvGraphicFramePr>
          <p:cNvPr id="8" name="Chart">
            <a:extLst>
              <a:ext uri="{FF2B5EF4-FFF2-40B4-BE49-F238E27FC236}">
                <a16:creationId xmlns:a16="http://schemas.microsoft.com/office/drawing/2014/main" id="{1C8E3734-6996-4822-A4D2-415E462EA61F}"/>
              </a:ext>
            </a:extLst>
          </p:cNvPr>
          <p:cNvGraphicFramePr/>
          <p:nvPr/>
        </p:nvGraphicFramePr>
        <p:xfrm>
          <a:off x="4076700" y="1257300"/>
          <a:ext cx="4695825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body">
            <a:extLst>
              <a:ext uri="{FF2B5EF4-FFF2-40B4-BE49-F238E27FC236}">
                <a16:creationId xmlns:a16="http://schemas.microsoft.com/office/drawing/2014/main" id="{7B66DC14-11BF-4B7D-AD8D-852E7D2B2609}"/>
              </a:ext>
            </a:extLst>
          </p:cNvPr>
          <p:cNvSpPr>
            <a:spLocks noGrp="1"/>
          </p:cNvSpPr>
          <p:nvPr/>
        </p:nvSpPr>
        <p:spPr>
          <a:xfrm>
            <a:off x="4105275" y="4448175"/>
            <a:ext cx="4667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35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STAB macro-F1: 0.27 (ST) to 0.58 (ST + DT)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AE17875-2249-F668-8900-61B4AD5A5C76}"/>
              </a:ext>
            </a:extLst>
          </p:cNvPr>
          <p:cNvSpPr/>
          <p:nvPr/>
        </p:nvSpPr>
        <p:spPr>
          <a:xfrm>
            <a:off x="6601522" y="2007220"/>
            <a:ext cx="981307" cy="178419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5054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94E5832C-F4EE-433E-A4B9-F401DCBDD2CC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953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813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PIGDAssess: A Short Wearable Protocol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6B916C6-E57C-4B3C-B224-A8D269B83C11}"/>
              </a:ext>
            </a:extLst>
          </p:cNvPr>
          <p:cNvSpPr>
            <a:spLocks noGrp="1"/>
          </p:cNvSpPr>
          <p:nvPr/>
        </p:nvSpPr>
        <p:spPr>
          <a:xfrm>
            <a:off x="95250" y="561975"/>
            <a:ext cx="8934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Three IMUs record three actions under single-task and dual-task conditions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EE669D3-A7E8-4C6B-AB6C-DF54A2002958}"/>
              </a:ext>
            </a:extLst>
          </p:cNvPr>
          <p:cNvSpPr>
            <a:spLocks noGrp="1"/>
          </p:cNvSpPr>
          <p:nvPr/>
        </p:nvSpPr>
        <p:spPr>
          <a:xfrm>
            <a:off x="0" y="4951286"/>
            <a:ext cx="4572000" cy="196787"/>
          </a:xfrm>
          <a:prstGeom prst="rect">
            <a:avLst/>
          </a:prstGeom>
          <a:solidFill>
            <a:srgbClr val="A7833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3D86E2-3472-43EF-8F52-2BE09F8B175E}"/>
              </a:ext>
            </a:extLst>
          </p:cNvPr>
          <p:cNvSpPr>
            <a:spLocks noGrp="1"/>
          </p:cNvSpPr>
          <p:nvPr/>
        </p:nvSpPr>
        <p:spPr>
          <a:xfrm>
            <a:off x="4572000" y="4951286"/>
            <a:ext cx="4572000" cy="196787"/>
          </a:xfrm>
          <a:prstGeom prst="rect">
            <a:avLst/>
          </a:prstGeom>
          <a:solidFill>
            <a:srgbClr val="00397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67E8D2C9-750C-4A15-8613-53CE20E5281B}"/>
              </a:ext>
            </a:extLst>
          </p:cNvPr>
          <p:cNvSpPr>
            <a:spLocks noGrp="1"/>
          </p:cNvSpPr>
          <p:nvPr/>
        </p:nvSpPr>
        <p:spPr>
          <a:xfrm>
            <a:off x="8743950" y="4962525"/>
            <a:ext cx="2667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7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B266529-9C1F-44D3-A510-5FD815465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185863"/>
            <a:ext cx="5095875" cy="30003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2D15FFA-76A3-45CA-86AD-820BE4406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81725" y="1185241"/>
            <a:ext cx="2333625" cy="1420467"/>
          </a:xfrm>
          <a:prstGeom prst="rect">
            <a:avLst/>
          </a:prstGeom>
        </p:spPr>
      </p:pic>
      <p:sp>
        <p:nvSpPr>
          <p:cNvPr id="8" name="body">
            <a:extLst>
              <a:ext uri="{FF2B5EF4-FFF2-40B4-BE49-F238E27FC236}">
                <a16:creationId xmlns:a16="http://schemas.microsoft.com/office/drawing/2014/main" id="{F1B9C7D7-C7BE-48F3-8CBD-BC118177CAD5}"/>
              </a:ext>
            </a:extLst>
          </p:cNvPr>
          <p:cNvSpPr>
            <a:spLocks noGrp="1"/>
          </p:cNvSpPr>
          <p:nvPr/>
        </p:nvSpPr>
        <p:spPr>
          <a:xfrm>
            <a:off x="5991225" y="2733675"/>
            <a:ext cx="28098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3 commodity IMUs</a:t>
            </a:r>
          </a:p>
          <a:p>
            <a:pPr algn="l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Lumbar + both feet</a:t>
            </a:r>
          </a:p>
          <a:p>
            <a:pPr algn="l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50 Hz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4DC98E39-4C2A-4F64-BBAE-82F2E9025568}"/>
              </a:ext>
            </a:extLst>
          </p:cNvPr>
          <p:cNvSpPr>
            <a:spLocks noGrp="1"/>
          </p:cNvSpPr>
          <p:nvPr/>
        </p:nvSpPr>
        <p:spPr>
          <a:xfrm>
            <a:off x="5791200" y="3686175"/>
            <a:ext cx="31051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0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Single task: movement only</a:t>
            </a:r>
          </a:p>
          <a:p>
            <a:pPr algn="l">
              <a:defRPr sz="180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Dual task: serial-3 subtraction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B25FEEB9-2600-4545-AD73-814B015BBA8D}"/>
              </a:ext>
            </a:extLst>
          </p:cNvPr>
          <p:cNvSpPr>
            <a:spLocks noGrp="1"/>
          </p:cNvSpPr>
          <p:nvPr/>
        </p:nvSpPr>
        <p:spPr>
          <a:xfrm>
            <a:off x="381000" y="4524375"/>
            <a:ext cx="8382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57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Walk two laps along a 3 m path with turns; stand for 30 s</a:t>
            </a:r>
          </a:p>
        </p:txBody>
      </p:sp>
    </p:spTree>
    <p:extLst>
      <p:ext uri="{BB962C8B-B14F-4D97-AF65-F5344CB8AC3E}">
        <p14:creationId xmlns:p14="http://schemas.microsoft.com/office/powerpoint/2010/main" val="1038050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76ECDA81-5FE6-43A6-AB9A-203E18B7AC78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953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813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PIGDAssess Overview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611F8EC2-2A7D-4173-AB96-9B7316EB9576}"/>
              </a:ext>
            </a:extLst>
          </p:cNvPr>
          <p:cNvSpPr>
            <a:spLocks noGrp="1"/>
          </p:cNvSpPr>
          <p:nvPr/>
        </p:nvSpPr>
        <p:spPr>
          <a:xfrm>
            <a:off x="95250" y="561975"/>
            <a:ext cx="8934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Paired motion signals produce four item-level PIGD scores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5942DD-CB2F-47AA-88D3-14B26C61C944}"/>
              </a:ext>
            </a:extLst>
          </p:cNvPr>
          <p:cNvSpPr>
            <a:spLocks noGrp="1"/>
          </p:cNvSpPr>
          <p:nvPr/>
        </p:nvSpPr>
        <p:spPr>
          <a:xfrm>
            <a:off x="0" y="4951286"/>
            <a:ext cx="4572000" cy="196787"/>
          </a:xfrm>
          <a:prstGeom prst="rect">
            <a:avLst/>
          </a:prstGeom>
          <a:solidFill>
            <a:srgbClr val="A7833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55C1B6B-3DB6-4B87-8ED5-D7DB9AF588A7}"/>
              </a:ext>
            </a:extLst>
          </p:cNvPr>
          <p:cNvSpPr>
            <a:spLocks noGrp="1"/>
          </p:cNvSpPr>
          <p:nvPr/>
        </p:nvSpPr>
        <p:spPr>
          <a:xfrm>
            <a:off x="4572000" y="4951286"/>
            <a:ext cx="4572000" cy="196787"/>
          </a:xfrm>
          <a:prstGeom prst="rect">
            <a:avLst/>
          </a:prstGeom>
          <a:solidFill>
            <a:srgbClr val="00397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805A2EAC-E470-4238-BACB-C997965F3D67}"/>
              </a:ext>
            </a:extLst>
          </p:cNvPr>
          <p:cNvSpPr>
            <a:spLocks noGrp="1"/>
          </p:cNvSpPr>
          <p:nvPr/>
        </p:nvSpPr>
        <p:spPr>
          <a:xfrm>
            <a:off x="8743950" y="4962525"/>
            <a:ext cx="2667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7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03D0534-6273-4822-9B1E-A11022E9A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7175" y="1392819"/>
            <a:ext cx="8629650" cy="2195938"/>
          </a:xfrm>
          <a:prstGeom prst="rect">
            <a:avLst/>
          </a:prstGeom>
        </p:spPr>
      </p:pic>
      <p:sp>
        <p:nvSpPr>
          <p:cNvPr id="7" name="body">
            <a:extLst>
              <a:ext uri="{FF2B5EF4-FFF2-40B4-BE49-F238E27FC236}">
                <a16:creationId xmlns:a16="http://schemas.microsoft.com/office/drawing/2014/main" id="{29974A2B-E8E2-4DAA-A90F-9A3E9D6E4D9E}"/>
              </a:ext>
            </a:extLst>
          </p:cNvPr>
          <p:cNvSpPr>
            <a:spLocks noGrp="1"/>
          </p:cNvSpPr>
          <p:nvPr/>
        </p:nvSpPr>
        <p:spPr>
          <a:xfrm>
            <a:off x="400050" y="3895725"/>
            <a:ext cx="25336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Paired ST/DT encoding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5EB6B4D6-8779-47D5-9BF7-3EC971093D4F}"/>
              </a:ext>
            </a:extLst>
          </p:cNvPr>
          <p:cNvSpPr>
            <a:spLocks noGrp="1"/>
          </p:cNvSpPr>
          <p:nvPr/>
        </p:nvSpPr>
        <p:spPr>
          <a:xfrm>
            <a:off x="3248025" y="3895725"/>
            <a:ext cx="26574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Action-weighted scoring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6026821D-0088-4944-BC18-17F35D6093A4}"/>
              </a:ext>
            </a:extLst>
          </p:cNvPr>
          <p:cNvSpPr>
            <a:spLocks noGrp="1"/>
          </p:cNvSpPr>
          <p:nvPr/>
        </p:nvSpPr>
        <p:spPr>
          <a:xfrm>
            <a:off x="6181725" y="3895725"/>
            <a:ext cx="2581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Prior-guided adaptation</a:t>
            </a:r>
          </a:p>
        </p:txBody>
      </p:sp>
    </p:spTree>
    <p:extLst>
      <p:ext uri="{BB962C8B-B14F-4D97-AF65-F5344CB8AC3E}">
        <p14:creationId xmlns:p14="http://schemas.microsoft.com/office/powerpoint/2010/main" val="212347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7E1CD4C2-48FA-46D6-B65B-15DB48FA29FB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953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813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Challenge 1: ST/DT Trial Mismatch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F93A8C1F-674F-4303-BF18-15B48A34810B}"/>
              </a:ext>
            </a:extLst>
          </p:cNvPr>
          <p:cNvSpPr>
            <a:spLocks noGrp="1"/>
          </p:cNvSpPr>
          <p:nvPr/>
        </p:nvSpPr>
        <p:spPr>
          <a:xfrm>
            <a:off x="95250" y="561975"/>
            <a:ext cx="8934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The same timestamp can correspond to different movement phases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D088BF-A005-47AD-BE80-369F7999752F}"/>
              </a:ext>
            </a:extLst>
          </p:cNvPr>
          <p:cNvSpPr>
            <a:spLocks noGrp="1"/>
          </p:cNvSpPr>
          <p:nvPr/>
        </p:nvSpPr>
        <p:spPr>
          <a:xfrm>
            <a:off x="0" y="4951286"/>
            <a:ext cx="4572000" cy="196787"/>
          </a:xfrm>
          <a:prstGeom prst="rect">
            <a:avLst/>
          </a:prstGeom>
          <a:solidFill>
            <a:srgbClr val="A7833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957E43-9C8A-4577-B1D1-5E08B9B77E6D}"/>
              </a:ext>
            </a:extLst>
          </p:cNvPr>
          <p:cNvSpPr>
            <a:spLocks noGrp="1"/>
          </p:cNvSpPr>
          <p:nvPr/>
        </p:nvSpPr>
        <p:spPr>
          <a:xfrm>
            <a:off x="4572000" y="4951286"/>
            <a:ext cx="4572000" cy="196787"/>
          </a:xfrm>
          <a:prstGeom prst="rect">
            <a:avLst/>
          </a:prstGeom>
          <a:solidFill>
            <a:srgbClr val="00397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E909B6AA-C136-43DD-95EE-79287B6AA839}"/>
              </a:ext>
            </a:extLst>
          </p:cNvPr>
          <p:cNvSpPr>
            <a:spLocks noGrp="1"/>
          </p:cNvSpPr>
          <p:nvPr/>
        </p:nvSpPr>
        <p:spPr>
          <a:xfrm>
            <a:off x="8743950" y="4962525"/>
            <a:ext cx="2667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7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9249C9B-85F4-4040-8E5C-8E5E6DA48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8625" y="1356866"/>
            <a:ext cx="8286750" cy="2201168"/>
          </a:xfrm>
          <a:prstGeom prst="rect">
            <a:avLst/>
          </a:prstGeom>
        </p:spPr>
      </p:pic>
      <p:sp>
        <p:nvSpPr>
          <p:cNvPr id="7" name="body">
            <a:extLst>
              <a:ext uri="{FF2B5EF4-FFF2-40B4-BE49-F238E27FC236}">
                <a16:creationId xmlns:a16="http://schemas.microsoft.com/office/drawing/2014/main" id="{5AC9F21A-2185-40D2-9C10-A2E2A65A4618}"/>
              </a:ext>
            </a:extLst>
          </p:cNvPr>
          <p:cNvSpPr>
            <a:spLocks noGrp="1"/>
          </p:cNvSpPr>
          <p:nvPr/>
        </p:nvSpPr>
        <p:spPr>
          <a:xfrm>
            <a:off x="476250" y="3790950"/>
            <a:ext cx="8191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95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ST and DT differ in pace, step count, and gait phase.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0346EA02-0FE9-406B-85BA-FBB1BE209C5E}"/>
              </a:ext>
            </a:extLst>
          </p:cNvPr>
          <p:cNvSpPr>
            <a:spLocks noGrp="1"/>
          </p:cNvSpPr>
          <p:nvPr/>
        </p:nvSpPr>
        <p:spPr>
          <a:xfrm>
            <a:off x="476250" y="4248150"/>
            <a:ext cx="8191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950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Naive time matching introduces phase mismatch</a:t>
            </a:r>
          </a:p>
          <a:p>
            <a:pPr algn="l">
              <a:defRPr sz="1950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that can obscure useful ST/DT contrasts.</a:t>
            </a:r>
          </a:p>
        </p:txBody>
      </p:sp>
    </p:spTree>
    <p:extLst>
      <p:ext uri="{BB962C8B-B14F-4D97-AF65-F5344CB8AC3E}">
        <p14:creationId xmlns:p14="http://schemas.microsoft.com/office/powerpoint/2010/main" val="1827628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04F6DEEC-E672-49BF-B815-F84AC89D4D94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953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813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Design 1: Paired ST/DT Encoding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C70AB5C-8613-4472-8DC2-26E50347CD24}"/>
              </a:ext>
            </a:extLst>
          </p:cNvPr>
          <p:cNvSpPr>
            <a:spLocks noGrp="1"/>
          </p:cNvSpPr>
          <p:nvPr/>
        </p:nvSpPr>
        <p:spPr>
          <a:xfrm>
            <a:off x="95250" y="561975"/>
            <a:ext cx="8934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Structured pairing and shared encoding retain both movement conditions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6C69086-BA52-4704-B0B8-BB0A8A08854E}"/>
              </a:ext>
            </a:extLst>
          </p:cNvPr>
          <p:cNvSpPr>
            <a:spLocks noGrp="1"/>
          </p:cNvSpPr>
          <p:nvPr/>
        </p:nvSpPr>
        <p:spPr>
          <a:xfrm>
            <a:off x="0" y="4951286"/>
            <a:ext cx="4572000" cy="196787"/>
          </a:xfrm>
          <a:prstGeom prst="rect">
            <a:avLst/>
          </a:prstGeom>
          <a:solidFill>
            <a:srgbClr val="A7833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E9CE54-41B1-45B3-9EB3-CE81FDEE7723}"/>
              </a:ext>
            </a:extLst>
          </p:cNvPr>
          <p:cNvSpPr>
            <a:spLocks noGrp="1"/>
          </p:cNvSpPr>
          <p:nvPr/>
        </p:nvSpPr>
        <p:spPr>
          <a:xfrm>
            <a:off x="4572000" y="4951286"/>
            <a:ext cx="4572000" cy="196787"/>
          </a:xfrm>
          <a:prstGeom prst="rect">
            <a:avLst/>
          </a:prstGeom>
          <a:solidFill>
            <a:srgbClr val="00397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A62E73F2-56C2-41B1-8B3A-CC28169B4495}"/>
              </a:ext>
            </a:extLst>
          </p:cNvPr>
          <p:cNvSpPr>
            <a:spLocks noGrp="1"/>
          </p:cNvSpPr>
          <p:nvPr/>
        </p:nvSpPr>
        <p:spPr>
          <a:xfrm>
            <a:off x="8743950" y="4962525"/>
            <a:ext cx="2667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7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49894FAB-8E11-4B86-960C-FA02B8D08721}"/>
              </a:ext>
            </a:extLst>
          </p:cNvPr>
          <p:cNvSpPr>
            <a:spLocks noGrp="1"/>
          </p:cNvSpPr>
          <p:nvPr/>
        </p:nvSpPr>
        <p:spPr>
          <a:xfrm>
            <a:off x="381000" y="1162050"/>
            <a:ext cx="8382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02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1  Segment and pair short windows for each action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12637864-7757-4FE1-BA3E-1269FEF9FF33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8001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72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3 s for arise; 10 s for walk–turn and stand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BF17FB5-F8FD-4806-B07B-B86C3B406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1000" y="1947820"/>
            <a:ext cx="8382000" cy="1390735"/>
          </a:xfrm>
          <a:prstGeom prst="rect">
            <a:avLst/>
          </a:prstGeom>
        </p:spPr>
      </p:pic>
      <p:sp>
        <p:nvSpPr>
          <p:cNvPr id="9" name="body">
            <a:extLst>
              <a:ext uri="{FF2B5EF4-FFF2-40B4-BE49-F238E27FC236}">
                <a16:creationId xmlns:a16="http://schemas.microsoft.com/office/drawing/2014/main" id="{58A33D39-93EE-442A-A616-09B0954F6BF1}"/>
              </a:ext>
            </a:extLst>
          </p:cNvPr>
          <p:cNvSpPr>
            <a:spLocks noGrp="1"/>
          </p:cNvSpPr>
          <p:nvPr/>
        </p:nvSpPr>
        <p:spPr>
          <a:xfrm>
            <a:off x="2524125" y="3352800"/>
            <a:ext cx="19335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5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Zip: corresponding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06F4E062-A385-4A49-9B16-F09E98563751}"/>
              </a:ext>
            </a:extLst>
          </p:cNvPr>
          <p:cNvSpPr>
            <a:spLocks noGrp="1"/>
          </p:cNvSpPr>
          <p:nvPr/>
        </p:nvSpPr>
        <p:spPr>
          <a:xfrm>
            <a:off x="4543425" y="3352800"/>
            <a:ext cx="20097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5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Neighbor: nearby</a:t>
            </a:r>
          </a:p>
        </p:txBody>
      </p:sp>
      <p:sp>
        <p:nvSpPr>
          <p:cNvPr id="11" name="body">
            <a:extLst>
              <a:ext uri="{FF2B5EF4-FFF2-40B4-BE49-F238E27FC236}">
                <a16:creationId xmlns:a16="http://schemas.microsoft.com/office/drawing/2014/main" id="{78C6CE13-95A6-437D-A0AC-A9746691E1A1}"/>
              </a:ext>
            </a:extLst>
          </p:cNvPr>
          <p:cNvSpPr>
            <a:spLocks noGrp="1"/>
          </p:cNvSpPr>
          <p:nvPr/>
        </p:nvSpPr>
        <p:spPr>
          <a:xfrm>
            <a:off x="6572250" y="3352800"/>
            <a:ext cx="2171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5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Cartesian: all pairs</a:t>
            </a:r>
          </a:p>
        </p:txBody>
      </p:sp>
      <p:sp>
        <p:nvSpPr>
          <p:cNvPr id="12" name="body">
            <a:extLst>
              <a:ext uri="{FF2B5EF4-FFF2-40B4-BE49-F238E27FC236}">
                <a16:creationId xmlns:a16="http://schemas.microsoft.com/office/drawing/2014/main" id="{79A17A3C-BA08-427B-8DE7-F5BB624B6981}"/>
              </a:ext>
            </a:extLst>
          </p:cNvPr>
          <p:cNvSpPr>
            <a:spLocks noGrp="1"/>
          </p:cNvSpPr>
          <p:nvPr/>
        </p:nvSpPr>
        <p:spPr>
          <a:xfrm>
            <a:off x="381000" y="3829050"/>
            <a:ext cx="8382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02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2  Encode paired windows with a shared ResNet1D</a:t>
            </a:r>
          </a:p>
        </p:txBody>
      </p:sp>
      <p:sp>
        <p:nvSpPr>
          <p:cNvPr id="13" name="body">
            <a:extLst>
              <a:ext uri="{FF2B5EF4-FFF2-40B4-BE49-F238E27FC236}">
                <a16:creationId xmlns:a16="http://schemas.microsoft.com/office/drawing/2014/main" id="{15E5823D-8533-4295-AD8E-855FB1B0628C}"/>
              </a:ext>
            </a:extLst>
          </p:cNvPr>
          <p:cNvSpPr>
            <a:spLocks noGrp="1"/>
          </p:cNvSpPr>
          <p:nvPr/>
        </p:nvSpPr>
        <p:spPr>
          <a:xfrm>
            <a:off x="685800" y="4219575"/>
            <a:ext cx="79629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0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Within each action, concatenate ST and DT embeddings</a:t>
            </a:r>
          </a:p>
          <a:p>
            <a:pPr algn="l">
              <a:defRPr sz="180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into one action token for downstream scoring.</a:t>
            </a:r>
          </a:p>
        </p:txBody>
      </p:sp>
    </p:spTree>
    <p:extLst>
      <p:ext uri="{BB962C8B-B14F-4D97-AF65-F5344CB8AC3E}">
        <p14:creationId xmlns:p14="http://schemas.microsoft.com/office/powerpoint/2010/main" val="981866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4220DFE9-FE96-4FFF-A2DE-E2440DD5F080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953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813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Challenge 2: Overlapping Action Cues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573A986-EF5E-438D-A4B2-160F9E23663F}"/>
              </a:ext>
            </a:extLst>
          </p:cNvPr>
          <p:cNvSpPr>
            <a:spLocks noGrp="1"/>
          </p:cNvSpPr>
          <p:nvPr/>
        </p:nvSpPr>
        <p:spPr>
          <a:xfrm>
            <a:off x="95250" y="561975"/>
            <a:ext cx="8934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Three actions contribute differently to four clinical items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EE5C05-CD7F-4009-839C-DD96A42B5C92}"/>
              </a:ext>
            </a:extLst>
          </p:cNvPr>
          <p:cNvSpPr>
            <a:spLocks noGrp="1"/>
          </p:cNvSpPr>
          <p:nvPr/>
        </p:nvSpPr>
        <p:spPr>
          <a:xfrm>
            <a:off x="0" y="4951286"/>
            <a:ext cx="4572000" cy="196787"/>
          </a:xfrm>
          <a:prstGeom prst="rect">
            <a:avLst/>
          </a:prstGeom>
          <a:solidFill>
            <a:srgbClr val="A7833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44ADAB-AF69-4D68-9477-4DEAF108878A}"/>
              </a:ext>
            </a:extLst>
          </p:cNvPr>
          <p:cNvSpPr>
            <a:spLocks noGrp="1"/>
          </p:cNvSpPr>
          <p:nvPr/>
        </p:nvSpPr>
        <p:spPr>
          <a:xfrm>
            <a:off x="4572000" y="4951286"/>
            <a:ext cx="4572000" cy="196787"/>
          </a:xfrm>
          <a:prstGeom prst="rect">
            <a:avLst/>
          </a:prstGeom>
          <a:solidFill>
            <a:srgbClr val="00397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E9986E45-C65A-4C4D-8B5D-1CCB24DF9FF5}"/>
              </a:ext>
            </a:extLst>
          </p:cNvPr>
          <p:cNvSpPr>
            <a:spLocks noGrp="1"/>
          </p:cNvSpPr>
          <p:nvPr/>
        </p:nvSpPr>
        <p:spPr>
          <a:xfrm>
            <a:off x="8743950" y="4962525"/>
            <a:ext cx="2667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7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AE2FA68-C694-41F5-A08C-F8C998233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1000" y="1402444"/>
            <a:ext cx="8382000" cy="2081436"/>
          </a:xfrm>
          <a:prstGeom prst="rect">
            <a:avLst/>
          </a:prstGeom>
        </p:spPr>
      </p:pic>
      <p:sp>
        <p:nvSpPr>
          <p:cNvPr id="7" name="body">
            <a:extLst>
              <a:ext uri="{FF2B5EF4-FFF2-40B4-BE49-F238E27FC236}">
                <a16:creationId xmlns:a16="http://schemas.microsoft.com/office/drawing/2014/main" id="{609099AD-0188-4764-A4B5-DB87DD0D78C9}"/>
              </a:ext>
            </a:extLst>
          </p:cNvPr>
          <p:cNvSpPr>
            <a:spLocks noGrp="1"/>
          </p:cNvSpPr>
          <p:nvPr/>
        </p:nvSpPr>
        <p:spPr>
          <a:xfrm>
            <a:off x="476250" y="3790950"/>
            <a:ext cx="8191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95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One action can reveal several impairments.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B5ABABF3-E7BA-4029-A140-050D13B24F18}"/>
              </a:ext>
            </a:extLst>
          </p:cNvPr>
          <p:cNvSpPr>
            <a:spLocks noGrp="1"/>
          </p:cNvSpPr>
          <p:nvPr/>
        </p:nvSpPr>
        <p:spPr>
          <a:xfrm>
            <a:off x="476250" y="4171950"/>
            <a:ext cx="8191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95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The most informative action differs across clinical items.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AF56449E-83EE-490A-9E7A-B42E37936878}"/>
              </a:ext>
            </a:extLst>
          </p:cNvPr>
          <p:cNvSpPr>
            <a:spLocks noGrp="1"/>
          </p:cNvSpPr>
          <p:nvPr/>
        </p:nvSpPr>
        <p:spPr>
          <a:xfrm>
            <a:off x="476250" y="4552950"/>
            <a:ext cx="8191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02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A fixed fusion can dilute item-specific evidence.</a:t>
            </a:r>
          </a:p>
        </p:txBody>
      </p:sp>
    </p:spTree>
    <p:extLst>
      <p:ext uri="{BB962C8B-B14F-4D97-AF65-F5344CB8AC3E}">
        <p14:creationId xmlns:p14="http://schemas.microsoft.com/office/powerpoint/2010/main" val="866135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E1554AE0-8FBE-4271-997F-F46BE23E469F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953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813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Design 2: Action-Weighted Task Heads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5347C415-34D6-4FEE-B127-C5EA9BFED731}"/>
              </a:ext>
            </a:extLst>
          </p:cNvPr>
          <p:cNvSpPr>
            <a:spLocks noGrp="1"/>
          </p:cNvSpPr>
          <p:nvPr/>
        </p:nvSpPr>
        <p:spPr>
          <a:xfrm>
            <a:off x="95250" y="561975"/>
            <a:ext cx="8934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Each clinical item learns sample-specific weights over the three actions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AE0561-911B-4612-8C13-162820BC6EB3}"/>
              </a:ext>
            </a:extLst>
          </p:cNvPr>
          <p:cNvSpPr>
            <a:spLocks noGrp="1"/>
          </p:cNvSpPr>
          <p:nvPr/>
        </p:nvSpPr>
        <p:spPr>
          <a:xfrm>
            <a:off x="0" y="4951286"/>
            <a:ext cx="4572000" cy="196787"/>
          </a:xfrm>
          <a:prstGeom prst="rect">
            <a:avLst/>
          </a:prstGeom>
          <a:solidFill>
            <a:srgbClr val="A7833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BD7746-CA66-4C4F-95DF-2A0D2D6D2195}"/>
              </a:ext>
            </a:extLst>
          </p:cNvPr>
          <p:cNvSpPr>
            <a:spLocks noGrp="1"/>
          </p:cNvSpPr>
          <p:nvPr/>
        </p:nvSpPr>
        <p:spPr>
          <a:xfrm>
            <a:off x="4572000" y="4951286"/>
            <a:ext cx="4572000" cy="196787"/>
          </a:xfrm>
          <a:prstGeom prst="rect">
            <a:avLst/>
          </a:prstGeom>
          <a:solidFill>
            <a:srgbClr val="00397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683E0682-5F5B-42A4-BE23-0D684AAEC110}"/>
              </a:ext>
            </a:extLst>
          </p:cNvPr>
          <p:cNvSpPr>
            <a:spLocks noGrp="1"/>
          </p:cNvSpPr>
          <p:nvPr/>
        </p:nvSpPr>
        <p:spPr>
          <a:xfrm>
            <a:off x="8743950" y="4962525"/>
            <a:ext cx="2667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7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27FC6DDD-828A-4970-99C2-6D565B270E48}"/>
              </a:ext>
            </a:extLst>
          </p:cNvPr>
          <p:cNvSpPr>
            <a:spLocks noGrp="1"/>
          </p:cNvSpPr>
          <p:nvPr/>
        </p:nvSpPr>
        <p:spPr>
          <a:xfrm>
            <a:off x="381000" y="1238250"/>
            <a:ext cx="3714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02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1  Score action tokens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DA1F926B-7E87-4E04-86FF-7D9193DBD30E}"/>
              </a:ext>
            </a:extLst>
          </p:cNvPr>
          <p:cNvSpPr>
            <a:spLocks noGrp="1"/>
          </p:cNvSpPr>
          <p:nvPr/>
        </p:nvSpPr>
        <p:spPr>
          <a:xfrm>
            <a:off x="685800" y="1628775"/>
            <a:ext cx="33909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0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Use paired ST/DT features from</a:t>
            </a:r>
          </a:p>
          <a:p>
            <a:pPr algn="l">
              <a:defRPr sz="180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arise, walk–turn, and stand.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E4D90AA0-DB5F-4C44-8A0D-446816059C1D}"/>
              </a:ext>
            </a:extLst>
          </p:cNvPr>
          <p:cNvSpPr>
            <a:spLocks noGrp="1"/>
          </p:cNvSpPr>
          <p:nvPr/>
        </p:nvSpPr>
        <p:spPr>
          <a:xfrm>
            <a:off x="381000" y="2466975"/>
            <a:ext cx="3714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02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2  Normalize with softmax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0F00A7F2-D3ED-4F8D-8B85-4E5CC03E1FE5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33909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0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Produce action weights for</a:t>
            </a:r>
          </a:p>
          <a:p>
            <a:pPr algn="l">
              <a:defRPr sz="180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this item and this sample.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E7393F65-51A2-4F2B-AC5F-D6A578D6C8FD}"/>
              </a:ext>
            </a:extLst>
          </p:cNvPr>
          <p:cNvSpPr>
            <a:spLocks noGrp="1"/>
          </p:cNvSpPr>
          <p:nvPr/>
        </p:nvSpPr>
        <p:spPr>
          <a:xfrm>
            <a:off x="381000" y="3686175"/>
            <a:ext cx="3714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02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3  Fuse and classify</a:t>
            </a:r>
          </a:p>
        </p:txBody>
      </p:sp>
      <p:sp>
        <p:nvSpPr>
          <p:cNvPr id="11" name="body">
            <a:extLst>
              <a:ext uri="{FF2B5EF4-FFF2-40B4-BE49-F238E27FC236}">
                <a16:creationId xmlns:a16="http://schemas.microsoft.com/office/drawing/2014/main" id="{CF6DEFB6-C48F-4CEE-8E49-91E0E2365692}"/>
              </a:ext>
            </a:extLst>
          </p:cNvPr>
          <p:cNvSpPr>
            <a:spLocks noGrp="1"/>
          </p:cNvSpPr>
          <p:nvPr/>
        </p:nvSpPr>
        <p:spPr>
          <a:xfrm>
            <a:off x="685800" y="4076700"/>
            <a:ext cx="33909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0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Weighted sum of action tokens</a:t>
            </a:r>
          </a:p>
          <a:p>
            <a:pPr algn="l">
              <a:defRPr sz="180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predicts item severity.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F4FE34C-A2CD-43E1-9484-1B1614ABB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57700" y="1256452"/>
            <a:ext cx="4305300" cy="2840146"/>
          </a:xfrm>
          <a:prstGeom prst="rect">
            <a:avLst/>
          </a:prstGeom>
        </p:spPr>
      </p:pic>
      <p:sp>
        <p:nvSpPr>
          <p:cNvPr id="13" name="body">
            <a:extLst>
              <a:ext uri="{FF2B5EF4-FFF2-40B4-BE49-F238E27FC236}">
                <a16:creationId xmlns:a16="http://schemas.microsoft.com/office/drawing/2014/main" id="{BEBFDFF8-B953-48A9-8028-662665BE6731}"/>
              </a:ext>
            </a:extLst>
          </p:cNvPr>
          <p:cNvSpPr>
            <a:spLocks noGrp="1"/>
          </p:cNvSpPr>
          <p:nvPr/>
        </p:nvSpPr>
        <p:spPr>
          <a:xfrm>
            <a:off x="4362450" y="4276725"/>
            <a:ext cx="45053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72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Four heads share the action encoders</a:t>
            </a:r>
          </a:p>
        </p:txBody>
      </p:sp>
      <p:sp>
        <p:nvSpPr>
          <p:cNvPr id="14" name="body">
            <a:extLst>
              <a:ext uri="{FF2B5EF4-FFF2-40B4-BE49-F238E27FC236}">
                <a16:creationId xmlns:a16="http://schemas.microsoft.com/office/drawing/2014/main" id="{6BC4FED9-1F43-469B-969A-244D33FB8D72}"/>
              </a:ext>
            </a:extLst>
          </p:cNvPr>
          <p:cNvSpPr>
            <a:spLocks noGrp="1"/>
          </p:cNvSpPr>
          <p:nvPr/>
        </p:nvSpPr>
        <p:spPr>
          <a:xfrm>
            <a:off x="4476750" y="4600575"/>
            <a:ext cx="4286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72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ARIS  ·  GAIT  ·  STAB  ·  POST</a:t>
            </a:r>
          </a:p>
        </p:txBody>
      </p:sp>
    </p:spTree>
    <p:extLst>
      <p:ext uri="{BB962C8B-B14F-4D97-AF65-F5344CB8AC3E}">
        <p14:creationId xmlns:p14="http://schemas.microsoft.com/office/powerpoint/2010/main" val="1981249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5467EE69-157F-48F7-8197-6D4124889E70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953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813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Challenge 3: Patient Variation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8750B6D-8D88-465B-AC0A-577AB06EEDB5}"/>
              </a:ext>
            </a:extLst>
          </p:cNvPr>
          <p:cNvSpPr>
            <a:spLocks noGrp="1"/>
          </p:cNvSpPr>
          <p:nvPr/>
        </p:nvSpPr>
        <p:spPr>
          <a:xfrm>
            <a:off x="95250" y="561975"/>
            <a:ext cx="8934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The same clinical severity can produce different movement patterns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C74EDC-9E7C-426A-A5BA-114286751687}"/>
              </a:ext>
            </a:extLst>
          </p:cNvPr>
          <p:cNvSpPr>
            <a:spLocks noGrp="1"/>
          </p:cNvSpPr>
          <p:nvPr/>
        </p:nvSpPr>
        <p:spPr>
          <a:xfrm>
            <a:off x="0" y="4951286"/>
            <a:ext cx="4572000" cy="196787"/>
          </a:xfrm>
          <a:prstGeom prst="rect">
            <a:avLst/>
          </a:prstGeom>
          <a:solidFill>
            <a:srgbClr val="A7833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F940224-D9E6-47C9-B044-497FBA261C1B}"/>
              </a:ext>
            </a:extLst>
          </p:cNvPr>
          <p:cNvSpPr>
            <a:spLocks noGrp="1"/>
          </p:cNvSpPr>
          <p:nvPr/>
        </p:nvSpPr>
        <p:spPr>
          <a:xfrm>
            <a:off x="4572000" y="4951286"/>
            <a:ext cx="4572000" cy="196787"/>
          </a:xfrm>
          <a:prstGeom prst="rect">
            <a:avLst/>
          </a:prstGeom>
          <a:solidFill>
            <a:srgbClr val="00397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02F61D65-6A89-4F46-B0DE-E53CA7F262F4}"/>
              </a:ext>
            </a:extLst>
          </p:cNvPr>
          <p:cNvSpPr>
            <a:spLocks noGrp="1"/>
          </p:cNvSpPr>
          <p:nvPr/>
        </p:nvSpPr>
        <p:spPr>
          <a:xfrm>
            <a:off x="8743950" y="4962525"/>
            <a:ext cx="2667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7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0EF297E-53BA-4D34-8F66-B8643DD2E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33375" y="1674893"/>
            <a:ext cx="5381625" cy="2031838"/>
          </a:xfrm>
          <a:prstGeom prst="rect">
            <a:avLst/>
          </a:prstGeom>
        </p:spPr>
      </p:pic>
      <p:sp>
        <p:nvSpPr>
          <p:cNvPr id="7" name="body">
            <a:extLst>
              <a:ext uri="{FF2B5EF4-FFF2-40B4-BE49-F238E27FC236}">
                <a16:creationId xmlns:a16="http://schemas.microsoft.com/office/drawing/2014/main" id="{42F61341-2FF4-48FC-A8CF-3966866325D3}"/>
              </a:ext>
            </a:extLst>
          </p:cNvPr>
          <p:cNvSpPr>
            <a:spLocks noGrp="1"/>
          </p:cNvSpPr>
          <p:nvPr/>
        </p:nvSpPr>
        <p:spPr>
          <a:xfrm>
            <a:off x="6010275" y="1400175"/>
            <a:ext cx="28479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100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Same score,</a:t>
            </a:r>
          </a:p>
          <a:p>
            <a:pPr algn="l">
              <a:defRPr sz="2100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different motion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647F1040-861D-49BE-9EFF-1CD912AF7443}"/>
              </a:ext>
            </a:extLst>
          </p:cNvPr>
          <p:cNvSpPr>
            <a:spLocks noGrp="1"/>
          </p:cNvSpPr>
          <p:nvPr/>
        </p:nvSpPr>
        <p:spPr>
          <a:xfrm>
            <a:off x="6010275" y="2314575"/>
            <a:ext cx="2857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0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Motor symptoms and</a:t>
            </a:r>
          </a:p>
          <a:p>
            <a:pPr algn="l">
              <a:defRPr sz="180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compensation alter</a:t>
            </a:r>
          </a:p>
          <a:p>
            <a:pPr algn="l">
              <a:defRPr sz="180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movement patterns.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AA2D0700-8D80-4FF3-A7DB-8E72ADFAC9B0}"/>
              </a:ext>
            </a:extLst>
          </p:cNvPr>
          <p:cNvSpPr>
            <a:spLocks noGrp="1"/>
          </p:cNvSpPr>
          <p:nvPr/>
        </p:nvSpPr>
        <p:spPr>
          <a:xfrm>
            <a:off x="6010275" y="3533775"/>
            <a:ext cx="28575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950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Score levels are ordered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912109ED-88B6-45B0-8C05-FEE3F431619E}"/>
              </a:ext>
            </a:extLst>
          </p:cNvPr>
          <p:cNvSpPr>
            <a:spLocks noGrp="1"/>
          </p:cNvSpPr>
          <p:nvPr/>
        </p:nvSpPr>
        <p:spPr>
          <a:xfrm>
            <a:off x="476250" y="4267200"/>
            <a:ext cx="828675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950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Patient variation can mask severity; removing it</a:t>
            </a:r>
          </a:p>
          <a:p>
            <a:pPr algn="l">
              <a:defRPr sz="1950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can also blur the ordered clinical levels.</a:t>
            </a:r>
          </a:p>
        </p:txBody>
      </p:sp>
    </p:spTree>
    <p:extLst>
      <p:ext uri="{BB962C8B-B14F-4D97-AF65-F5344CB8AC3E}">
        <p14:creationId xmlns:p14="http://schemas.microsoft.com/office/powerpoint/2010/main" val="803059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6E1FF4A5-F358-4042-8F66-B9F0ACAD9F86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953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813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Design 3: Prior-Guided Adaptation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059A443-3374-4776-9AD4-F7727F6A6784}"/>
              </a:ext>
            </a:extLst>
          </p:cNvPr>
          <p:cNvSpPr>
            <a:spLocks noGrp="1"/>
          </p:cNvSpPr>
          <p:nvPr/>
        </p:nvSpPr>
        <p:spPr>
          <a:xfrm>
            <a:off x="95250" y="561975"/>
            <a:ext cx="8934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Kinematic similarity and ordinal continuity constrain feature alignment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9B30EC-0EFC-40F0-A5F2-86BC319F96EA}"/>
              </a:ext>
            </a:extLst>
          </p:cNvPr>
          <p:cNvSpPr>
            <a:spLocks noGrp="1"/>
          </p:cNvSpPr>
          <p:nvPr/>
        </p:nvSpPr>
        <p:spPr>
          <a:xfrm>
            <a:off x="0" y="4951286"/>
            <a:ext cx="4572000" cy="196787"/>
          </a:xfrm>
          <a:prstGeom prst="rect">
            <a:avLst/>
          </a:prstGeom>
          <a:solidFill>
            <a:srgbClr val="A7833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27EDA8-0F3B-44BF-8D7E-66002B02D270}"/>
              </a:ext>
            </a:extLst>
          </p:cNvPr>
          <p:cNvSpPr>
            <a:spLocks noGrp="1"/>
          </p:cNvSpPr>
          <p:nvPr/>
        </p:nvSpPr>
        <p:spPr>
          <a:xfrm>
            <a:off x="4572000" y="4951286"/>
            <a:ext cx="4572000" cy="196787"/>
          </a:xfrm>
          <a:prstGeom prst="rect">
            <a:avLst/>
          </a:prstGeom>
          <a:solidFill>
            <a:srgbClr val="00397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3D19195B-205E-47AF-8F87-FE6D05518F85}"/>
              </a:ext>
            </a:extLst>
          </p:cNvPr>
          <p:cNvSpPr>
            <a:spLocks noGrp="1"/>
          </p:cNvSpPr>
          <p:nvPr/>
        </p:nvSpPr>
        <p:spPr>
          <a:xfrm>
            <a:off x="8743950" y="4962525"/>
            <a:ext cx="2667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7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296F3724-92D0-406A-9A04-4400EF4AA848}"/>
              </a:ext>
            </a:extLst>
          </p:cNvPr>
          <p:cNvSpPr>
            <a:spLocks noGrp="1"/>
          </p:cNvSpPr>
          <p:nvPr/>
        </p:nvSpPr>
        <p:spPr>
          <a:xfrm>
            <a:off x="499946" y="3667125"/>
            <a:ext cx="2838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1  Kinematic prior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93C776CA-176C-4098-BF47-DCC6C4F87F79}"/>
              </a:ext>
            </a:extLst>
          </p:cNvPr>
          <p:cNvSpPr>
            <a:spLocks noGrp="1"/>
          </p:cNvSpPr>
          <p:nvPr/>
        </p:nvSpPr>
        <p:spPr>
          <a:xfrm>
            <a:off x="804746" y="4048125"/>
            <a:ext cx="25336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65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50" b="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Pair source and target</a:t>
            </a:r>
          </a:p>
          <a:p>
            <a:pPr algn="l">
              <a:defRPr sz="165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50" b="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by motion similarity.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016B604A-256C-4329-9723-48D33A46E5A8}"/>
              </a:ext>
            </a:extLst>
          </p:cNvPr>
          <p:cNvSpPr>
            <a:spLocks noGrp="1"/>
          </p:cNvSpPr>
          <p:nvPr/>
        </p:nvSpPr>
        <p:spPr>
          <a:xfrm>
            <a:off x="3486150" y="3590925"/>
            <a:ext cx="2838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950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950" b="1" dirty="0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2  Prior-CDAN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AD4366AE-D5B8-4511-B600-C377A59E6495}"/>
              </a:ext>
            </a:extLst>
          </p:cNvPr>
          <p:cNvSpPr>
            <a:spLocks noGrp="1"/>
          </p:cNvSpPr>
          <p:nvPr/>
        </p:nvSpPr>
        <p:spPr>
          <a:xfrm>
            <a:off x="3790950" y="3971925"/>
            <a:ext cx="253365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72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Align features using</a:t>
            </a:r>
          </a:p>
          <a:p>
            <a:pPr algn="l">
              <a:defRPr sz="172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predicted severity.</a:t>
            </a:r>
          </a:p>
        </p:txBody>
      </p:sp>
      <p:sp>
        <p:nvSpPr>
          <p:cNvPr id="11" name="body">
            <a:extLst>
              <a:ext uri="{FF2B5EF4-FFF2-40B4-BE49-F238E27FC236}">
                <a16:creationId xmlns:a16="http://schemas.microsoft.com/office/drawing/2014/main" id="{A2ADD95F-33F7-486E-8B42-47774CAE5D8F}"/>
              </a:ext>
            </a:extLst>
          </p:cNvPr>
          <p:cNvSpPr>
            <a:spLocks noGrp="1"/>
          </p:cNvSpPr>
          <p:nvPr/>
        </p:nvSpPr>
        <p:spPr>
          <a:xfrm>
            <a:off x="6472354" y="3570161"/>
            <a:ext cx="28384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75" b="1" dirty="0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3  Ordinal continuity</a:t>
            </a:r>
          </a:p>
        </p:txBody>
      </p:sp>
      <p:sp>
        <p:nvSpPr>
          <p:cNvPr id="12" name="body">
            <a:extLst>
              <a:ext uri="{FF2B5EF4-FFF2-40B4-BE49-F238E27FC236}">
                <a16:creationId xmlns:a16="http://schemas.microsoft.com/office/drawing/2014/main" id="{C75D3C0D-27AB-46E1-A0EA-D4269A742024}"/>
              </a:ext>
            </a:extLst>
          </p:cNvPr>
          <p:cNvSpPr>
            <a:spLocks noGrp="1"/>
          </p:cNvSpPr>
          <p:nvPr/>
        </p:nvSpPr>
        <p:spPr>
          <a:xfrm>
            <a:off x="6777154" y="3951161"/>
            <a:ext cx="253365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57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Encourage nearby features</a:t>
            </a:r>
          </a:p>
          <a:p>
            <a:pPr algn="l">
              <a:defRPr sz="157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for neighboring scores.</a:t>
            </a:r>
          </a:p>
        </p:txBody>
      </p:sp>
      <p:sp>
        <p:nvSpPr>
          <p:cNvPr id="13" name="body">
            <a:extLst>
              <a:ext uri="{FF2B5EF4-FFF2-40B4-BE49-F238E27FC236}">
                <a16:creationId xmlns:a16="http://schemas.microsoft.com/office/drawing/2014/main" id="{07CB5E39-BB9C-4D0E-9BEA-C753B4652297}"/>
              </a:ext>
            </a:extLst>
          </p:cNvPr>
          <p:cNvSpPr>
            <a:spLocks noGrp="1"/>
          </p:cNvSpPr>
          <p:nvPr/>
        </p:nvSpPr>
        <p:spPr>
          <a:xfrm>
            <a:off x="400050" y="4667250"/>
            <a:ext cx="83439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42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Adaptation uses unlabeled IMU data from the target participant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14F6701-E75F-EC48-A22C-3A51559FE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67" y="825196"/>
            <a:ext cx="6909342" cy="274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239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E3983A8C-BC98-485D-88DF-53597559E2ED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953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813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PIGDAssess Evaluation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9D73473-87D9-475E-88B5-004647BEA88B}"/>
              </a:ext>
            </a:extLst>
          </p:cNvPr>
          <p:cNvSpPr>
            <a:spLocks noGrp="1"/>
          </p:cNvSpPr>
          <p:nvPr/>
        </p:nvSpPr>
        <p:spPr>
          <a:xfrm>
            <a:off x="95250" y="561975"/>
            <a:ext cx="8934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35 participants with Parkinson’s disease in clinical and home settings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81728F0-8B29-4EA3-84D5-28E2ACE16F51}"/>
              </a:ext>
            </a:extLst>
          </p:cNvPr>
          <p:cNvSpPr>
            <a:spLocks noGrp="1"/>
          </p:cNvSpPr>
          <p:nvPr/>
        </p:nvSpPr>
        <p:spPr>
          <a:xfrm>
            <a:off x="0" y="4951286"/>
            <a:ext cx="4572000" cy="196787"/>
          </a:xfrm>
          <a:prstGeom prst="rect">
            <a:avLst/>
          </a:prstGeom>
          <a:solidFill>
            <a:srgbClr val="A7833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782213-06F8-4BBA-87A3-B53D8E7B2F62}"/>
              </a:ext>
            </a:extLst>
          </p:cNvPr>
          <p:cNvSpPr>
            <a:spLocks noGrp="1"/>
          </p:cNvSpPr>
          <p:nvPr/>
        </p:nvSpPr>
        <p:spPr>
          <a:xfrm>
            <a:off x="4572000" y="4951286"/>
            <a:ext cx="4572000" cy="196787"/>
          </a:xfrm>
          <a:prstGeom prst="rect">
            <a:avLst/>
          </a:prstGeom>
          <a:solidFill>
            <a:srgbClr val="00397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7750BEC5-892B-427B-B005-7FEE76829E9A}"/>
              </a:ext>
            </a:extLst>
          </p:cNvPr>
          <p:cNvSpPr>
            <a:spLocks noGrp="1"/>
          </p:cNvSpPr>
          <p:nvPr/>
        </p:nvSpPr>
        <p:spPr>
          <a:xfrm>
            <a:off x="8743950" y="4962525"/>
            <a:ext cx="2667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7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DDDEA95-4A68-4009-851C-74558572D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8150" y="1225536"/>
            <a:ext cx="4219575" cy="2044728"/>
          </a:xfrm>
          <a:prstGeom prst="rect">
            <a:avLst/>
          </a:prstGeom>
        </p:spPr>
      </p:pic>
      <p:sp>
        <p:nvSpPr>
          <p:cNvPr id="7" name="body">
            <a:extLst>
              <a:ext uri="{FF2B5EF4-FFF2-40B4-BE49-F238E27FC236}">
                <a16:creationId xmlns:a16="http://schemas.microsoft.com/office/drawing/2014/main" id="{F8C9FD5B-F5A2-462A-AE3E-2E30E5E4D75C}"/>
              </a:ext>
            </a:extLst>
          </p:cNvPr>
          <p:cNvSpPr>
            <a:spLocks noGrp="1"/>
          </p:cNvSpPr>
          <p:nvPr/>
        </p:nvSpPr>
        <p:spPr>
          <a:xfrm>
            <a:off x="5267325" y="1257300"/>
            <a:ext cx="34766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400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35 participants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61D6EDEA-2358-4F6A-8728-FD7180CBBA55}"/>
              </a:ext>
            </a:extLst>
          </p:cNvPr>
          <p:cNvSpPr>
            <a:spLocks noGrp="1"/>
          </p:cNvSpPr>
          <p:nvPr/>
        </p:nvSpPr>
        <p:spPr>
          <a:xfrm>
            <a:off x="5267325" y="1828800"/>
            <a:ext cx="3495675" cy="1076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7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20 women and 15 men</a:t>
            </a:r>
          </a:p>
          <a:p>
            <a:pPr algn="l">
              <a:defRPr sz="187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About 6 hours of IMU data</a:t>
            </a:r>
          </a:p>
          <a:p>
            <a:pPr algn="l">
              <a:defRPr sz="187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More than 3 trials per condition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DF1B2822-BB06-4DA6-ACC2-1C283460A5EF}"/>
              </a:ext>
            </a:extLst>
          </p:cNvPr>
          <p:cNvSpPr>
            <a:spLocks noGrp="1"/>
          </p:cNvSpPr>
          <p:nvPr/>
        </p:nvSpPr>
        <p:spPr>
          <a:xfrm>
            <a:off x="5238750" y="3228975"/>
            <a:ext cx="35718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Two neurologists independently</a:t>
            </a:r>
          </a:p>
          <a:p>
            <a:pPr algn="l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scored all four clinical items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9E6E446-BE7C-C10A-5557-DE66B013C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71500" y="3451956"/>
            <a:ext cx="4095750" cy="952500"/>
          </a:xfrm>
          <a:prstGeom prst="rect">
            <a:avLst/>
          </a:prstGeom>
        </p:spPr>
      </p:pic>
      <p:sp>
        <p:nvSpPr>
          <p:cNvPr id="13" name="body">
            <a:extLst>
              <a:ext uri="{FF2B5EF4-FFF2-40B4-BE49-F238E27FC236}">
                <a16:creationId xmlns:a16="http://schemas.microsoft.com/office/drawing/2014/main" id="{1DF80C2E-C88D-16C0-0954-1863554D6400}"/>
              </a:ext>
            </a:extLst>
          </p:cNvPr>
          <p:cNvSpPr>
            <a:spLocks noGrp="1"/>
          </p:cNvSpPr>
          <p:nvPr/>
        </p:nvSpPr>
        <p:spPr>
          <a:xfrm>
            <a:off x="676275" y="4404456"/>
            <a:ext cx="38862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57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575" b="0" dirty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Clinical settings and patients’ homes</a:t>
            </a:r>
          </a:p>
        </p:txBody>
      </p:sp>
    </p:spTree>
    <p:extLst>
      <p:ext uri="{BB962C8B-B14F-4D97-AF65-F5344CB8AC3E}">
        <p14:creationId xmlns:p14="http://schemas.microsoft.com/office/powerpoint/2010/main" val="1940662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B5BD3DA4-8D9A-434C-BD6D-2E76B47C2175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953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813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PIGDAssess Evaluation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2C587CC-A9F8-4AC8-BFBB-D275472568AD}"/>
              </a:ext>
            </a:extLst>
          </p:cNvPr>
          <p:cNvSpPr>
            <a:spLocks noGrp="1"/>
          </p:cNvSpPr>
          <p:nvPr/>
        </p:nvSpPr>
        <p:spPr>
          <a:xfrm>
            <a:off x="95250" y="561975"/>
            <a:ext cx="8934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The system achieves 0.87 macro-F1 across the four PIGD items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F5591C-3177-47C3-9860-71AEF90B5F64}"/>
              </a:ext>
            </a:extLst>
          </p:cNvPr>
          <p:cNvSpPr>
            <a:spLocks noGrp="1"/>
          </p:cNvSpPr>
          <p:nvPr/>
        </p:nvSpPr>
        <p:spPr>
          <a:xfrm>
            <a:off x="0" y="4951286"/>
            <a:ext cx="4572000" cy="196787"/>
          </a:xfrm>
          <a:prstGeom prst="rect">
            <a:avLst/>
          </a:prstGeom>
          <a:solidFill>
            <a:srgbClr val="A7833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DE9C66-7F38-4B25-865B-BA3B98F6281A}"/>
              </a:ext>
            </a:extLst>
          </p:cNvPr>
          <p:cNvSpPr>
            <a:spLocks noGrp="1"/>
          </p:cNvSpPr>
          <p:nvPr/>
        </p:nvSpPr>
        <p:spPr>
          <a:xfrm>
            <a:off x="4572000" y="4951286"/>
            <a:ext cx="4572000" cy="196787"/>
          </a:xfrm>
          <a:prstGeom prst="rect">
            <a:avLst/>
          </a:prstGeom>
          <a:solidFill>
            <a:srgbClr val="00397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F11AC0B9-E191-42E3-822F-DACC95CB32F0}"/>
              </a:ext>
            </a:extLst>
          </p:cNvPr>
          <p:cNvSpPr>
            <a:spLocks noGrp="1"/>
          </p:cNvSpPr>
          <p:nvPr/>
        </p:nvSpPr>
        <p:spPr>
          <a:xfrm>
            <a:off x="8743950" y="4962525"/>
            <a:ext cx="2667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7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EA4BDD8A-DFAC-42D5-B1C5-7A3EAD1F708B}"/>
              </a:ext>
            </a:extLst>
          </p:cNvPr>
          <p:cNvGraphicFramePr/>
          <p:nvPr/>
        </p:nvGraphicFramePr>
        <p:xfrm>
          <a:off x="266700" y="1219200"/>
          <a:ext cx="4572000" cy="2800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41B06C7-F068-450A-865A-1C5D27E41F9F}"/>
              </a:ext>
            </a:extLst>
          </p:cNvPr>
          <p:cNvGraphicFramePr/>
          <p:nvPr/>
        </p:nvGraphicFramePr>
        <p:xfrm>
          <a:off x="5067300" y="1285875"/>
          <a:ext cx="3743325" cy="2695575"/>
        </p:xfrm>
        <a:graphic>
          <a:graphicData uri="http://schemas.openxmlformats.org/drawingml/2006/table">
            <a:tbl>
              <a:tblPr/>
              <a:tblGrid>
                <a:gridCol w="94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11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3974"/>
                          </a:solidFill>
                          <a:latin typeface="Calibri"/>
                          <a:ea typeface="Calibri"/>
                          <a:cs typeface="Calibri"/>
                        </a:rPr>
                        <a:t>Item</a:t>
                      </a:r>
                    </a:p>
                  </a:txBody>
                  <a:tcPr marL="85725" marR="85725" marT="76200" marB="76200" anchor="ctr"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3974"/>
                          </a:solidFill>
                          <a:latin typeface="Calibri"/>
                          <a:ea typeface="Calibri"/>
                          <a:cs typeface="Calibri"/>
                        </a:rPr>
                        <a:t>Acc</a:t>
                      </a:r>
                    </a:p>
                  </a:txBody>
                  <a:tcPr marL="85725" marR="85725" marT="76200" marB="76200" anchor="ctr"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3974"/>
                          </a:solidFill>
                          <a:latin typeface="Calibri"/>
                          <a:ea typeface="Calibri"/>
                          <a:cs typeface="Calibri"/>
                        </a:rPr>
                        <a:t>F1</a:t>
                      </a:r>
                    </a:p>
                  </a:txBody>
                  <a:tcPr marL="85725" marR="85725" marT="76200" marB="76200" anchor="ctr"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3974"/>
                          </a:solidFill>
                          <a:latin typeface="Calibri"/>
                          <a:ea typeface="Calibri"/>
                          <a:cs typeface="Calibri"/>
                        </a:rPr>
                        <a:t>MAE</a:t>
                      </a:r>
                    </a:p>
                  </a:txBody>
                  <a:tcPr marL="85725" marR="85725" marT="76200" marB="76200" anchor="ctr">
                    <a:solidFill>
                      <a:srgbClr val="ED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11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ARIS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0.88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0.91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0.16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11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GAIT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0.79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0.84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0.29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11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3974"/>
                          </a:solidFill>
                          <a:latin typeface="Calibri"/>
                          <a:ea typeface="Calibri"/>
                          <a:cs typeface="Calibri"/>
                        </a:rPr>
                        <a:t>STAB</a:t>
                      </a:r>
                    </a:p>
                  </a:txBody>
                  <a:tcPr marL="85725" marR="85725" marT="76200" marB="76200" anchor="ctr"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3974"/>
                          </a:solidFill>
                          <a:latin typeface="Calibri"/>
                          <a:ea typeface="Calibri"/>
                          <a:cs typeface="Calibri"/>
                        </a:rPr>
                        <a:t>0.89</a:t>
                      </a:r>
                    </a:p>
                  </a:txBody>
                  <a:tcPr marL="85725" marR="85725" marT="76200" marB="76200" anchor="ctr"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3974"/>
                          </a:solidFill>
                          <a:latin typeface="Calibri"/>
                          <a:ea typeface="Calibri"/>
                          <a:cs typeface="Calibri"/>
                        </a:rPr>
                        <a:t>0.92</a:t>
                      </a:r>
                    </a:p>
                  </a:txBody>
                  <a:tcPr marL="85725" marR="85725" marT="76200" marB="76200" anchor="ctr"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3974"/>
                          </a:solidFill>
                          <a:latin typeface="Calibri"/>
                          <a:ea typeface="Calibri"/>
                          <a:cs typeface="Calibri"/>
                        </a:rPr>
                        <a:t>0.16</a:t>
                      </a:r>
                    </a:p>
                  </a:txBody>
                  <a:tcPr marL="85725" marR="85725" marT="76200" marB="76200" anchor="ctr">
                    <a:solidFill>
                      <a:srgbClr val="FFF7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11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POST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0.75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0.79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020"/>
                          </a:solidFill>
                          <a:latin typeface="Calibri"/>
                          <a:ea typeface="Calibri"/>
                          <a:cs typeface="Calibri"/>
                        </a:rPr>
                        <a:t>0.40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72648017-D47F-4C7F-82D7-D1E4FBA30A2B}"/>
              </a:ext>
            </a:extLst>
          </p:cNvPr>
          <p:cNvSpPr>
            <a:spLocks noGrp="1"/>
          </p:cNvSpPr>
          <p:nvPr/>
        </p:nvSpPr>
        <p:spPr>
          <a:xfrm>
            <a:off x="590550" y="4238625"/>
            <a:ext cx="80581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202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0.83 Accuracy       0.87 Macro-F1       0.25 MAE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E5BDA49D-2A27-4A3B-8C0B-08E2418C05D4}"/>
              </a:ext>
            </a:extLst>
          </p:cNvPr>
          <p:cNvSpPr>
            <a:spLocks noGrp="1"/>
          </p:cNvSpPr>
          <p:nvPr/>
        </p:nvSpPr>
        <p:spPr>
          <a:xfrm>
            <a:off x="333375" y="4667250"/>
            <a:ext cx="847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35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LOSO trial-level results with sample voting and unlabeled target adaptation</a:t>
            </a:r>
          </a:p>
        </p:txBody>
      </p:sp>
    </p:spTree>
    <p:extLst>
      <p:ext uri="{BB962C8B-B14F-4D97-AF65-F5344CB8AC3E}">
        <p14:creationId xmlns:p14="http://schemas.microsoft.com/office/powerpoint/2010/main" val="266635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370BA493-792F-4EAD-82A1-6B5B98F1C463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953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813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Ablation: Each Component Contributes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F64DDA6-6745-4F50-B876-5C87454E6DF1}"/>
              </a:ext>
            </a:extLst>
          </p:cNvPr>
          <p:cNvSpPr>
            <a:spLocks noGrp="1"/>
          </p:cNvSpPr>
          <p:nvPr/>
        </p:nvSpPr>
        <p:spPr>
          <a:xfrm>
            <a:off x="95250" y="561975"/>
            <a:ext cx="8934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The full model improves sample-level macro-F1 from 0.55 to 0.75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3E055E6-4C26-4AD6-809F-FC02161AC62B}"/>
              </a:ext>
            </a:extLst>
          </p:cNvPr>
          <p:cNvSpPr>
            <a:spLocks noGrp="1"/>
          </p:cNvSpPr>
          <p:nvPr/>
        </p:nvSpPr>
        <p:spPr>
          <a:xfrm>
            <a:off x="0" y="4951286"/>
            <a:ext cx="4572000" cy="196787"/>
          </a:xfrm>
          <a:prstGeom prst="rect">
            <a:avLst/>
          </a:prstGeom>
          <a:solidFill>
            <a:srgbClr val="A7833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7422BD-EE68-4FA9-A4DD-72B2E0365613}"/>
              </a:ext>
            </a:extLst>
          </p:cNvPr>
          <p:cNvSpPr>
            <a:spLocks noGrp="1"/>
          </p:cNvSpPr>
          <p:nvPr/>
        </p:nvSpPr>
        <p:spPr>
          <a:xfrm>
            <a:off x="4572000" y="4951286"/>
            <a:ext cx="4572000" cy="196787"/>
          </a:xfrm>
          <a:prstGeom prst="rect">
            <a:avLst/>
          </a:prstGeom>
          <a:solidFill>
            <a:srgbClr val="00397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7A65F3B0-C45D-4A79-A067-476368C2A7F1}"/>
              </a:ext>
            </a:extLst>
          </p:cNvPr>
          <p:cNvSpPr>
            <a:spLocks noGrp="1"/>
          </p:cNvSpPr>
          <p:nvPr/>
        </p:nvSpPr>
        <p:spPr>
          <a:xfrm>
            <a:off x="8743950" y="4962525"/>
            <a:ext cx="2667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7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7CB5232E-BE90-4688-B2FD-52CF29DB0324}"/>
              </a:ext>
            </a:extLst>
          </p:cNvPr>
          <p:cNvGraphicFramePr/>
          <p:nvPr/>
        </p:nvGraphicFramePr>
        <p:xfrm>
          <a:off x="514350" y="1133475"/>
          <a:ext cx="8115300" cy="3028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body">
            <a:extLst>
              <a:ext uri="{FF2B5EF4-FFF2-40B4-BE49-F238E27FC236}">
                <a16:creationId xmlns:a16="http://schemas.microsoft.com/office/drawing/2014/main" id="{BAFA7CDB-A51F-49AF-B900-4C04279E16CB}"/>
              </a:ext>
            </a:extLst>
          </p:cNvPr>
          <p:cNvSpPr>
            <a:spLocks noGrp="1"/>
          </p:cNvSpPr>
          <p:nvPr/>
        </p:nvSpPr>
        <p:spPr>
          <a:xfrm>
            <a:off x="771525" y="4295775"/>
            <a:ext cx="76295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800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Prior-CDAN replaces standard CDAN in the final model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60F1D638-2712-4510-914B-510879321206}"/>
              </a:ext>
            </a:extLst>
          </p:cNvPr>
          <p:cNvSpPr>
            <a:spLocks noGrp="1"/>
          </p:cNvSpPr>
          <p:nvPr/>
        </p:nvSpPr>
        <p:spPr>
          <a:xfrm>
            <a:off x="638175" y="4695825"/>
            <a:ext cx="78676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5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35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10-fold user-independent CV, sample-level predictions without voting</a:t>
            </a:r>
          </a:p>
        </p:txBody>
      </p:sp>
    </p:spTree>
    <p:extLst>
      <p:ext uri="{BB962C8B-B14F-4D97-AF65-F5344CB8AC3E}">
        <p14:creationId xmlns:p14="http://schemas.microsoft.com/office/powerpoint/2010/main" val="485528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B18027D7-150E-4948-8419-56CEE5A842A3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953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813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Agreement with Clinician Scores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AA060A8-82D6-489F-98C2-EAB9241A827A}"/>
              </a:ext>
            </a:extLst>
          </p:cNvPr>
          <p:cNvSpPr>
            <a:spLocks noGrp="1"/>
          </p:cNvSpPr>
          <p:nvPr/>
        </p:nvSpPr>
        <p:spPr>
          <a:xfrm>
            <a:off x="95250" y="561975"/>
            <a:ext cx="8934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PIGDAssess total scores correlate strongly with clinician consensus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C35671-9DFF-4D51-BB31-B897FC832DB4}"/>
              </a:ext>
            </a:extLst>
          </p:cNvPr>
          <p:cNvSpPr>
            <a:spLocks noGrp="1"/>
          </p:cNvSpPr>
          <p:nvPr/>
        </p:nvSpPr>
        <p:spPr>
          <a:xfrm>
            <a:off x="0" y="4951286"/>
            <a:ext cx="4572000" cy="196787"/>
          </a:xfrm>
          <a:prstGeom prst="rect">
            <a:avLst/>
          </a:prstGeom>
          <a:solidFill>
            <a:srgbClr val="A7833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1B0ACD-8306-4757-AE35-B9162B86C5E7}"/>
              </a:ext>
            </a:extLst>
          </p:cNvPr>
          <p:cNvSpPr>
            <a:spLocks noGrp="1"/>
          </p:cNvSpPr>
          <p:nvPr/>
        </p:nvSpPr>
        <p:spPr>
          <a:xfrm>
            <a:off x="4572000" y="4951286"/>
            <a:ext cx="4572000" cy="196787"/>
          </a:xfrm>
          <a:prstGeom prst="rect">
            <a:avLst/>
          </a:prstGeom>
          <a:solidFill>
            <a:srgbClr val="00397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C3128B23-B9DA-44BA-BEDF-E0469E9F0F26}"/>
              </a:ext>
            </a:extLst>
          </p:cNvPr>
          <p:cNvSpPr>
            <a:spLocks noGrp="1"/>
          </p:cNvSpPr>
          <p:nvPr/>
        </p:nvSpPr>
        <p:spPr>
          <a:xfrm>
            <a:off x="8743950" y="4962525"/>
            <a:ext cx="2667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7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A8CC095-C368-4215-95E1-0459972BE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0647" y="1104900"/>
            <a:ext cx="3072581" cy="28575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D53A140-D49E-41AC-A0F7-717DA80F35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284685" y="1104900"/>
            <a:ext cx="3041855" cy="2857500"/>
          </a:xfrm>
          <a:prstGeom prst="rect">
            <a:avLst/>
          </a:prstGeom>
        </p:spPr>
      </p:pic>
      <p:sp>
        <p:nvSpPr>
          <p:cNvPr id="8" name="body">
            <a:extLst>
              <a:ext uri="{FF2B5EF4-FFF2-40B4-BE49-F238E27FC236}">
                <a16:creationId xmlns:a16="http://schemas.microsoft.com/office/drawing/2014/main" id="{64BA0745-846E-4607-B6A1-EC98D7A09B39}"/>
              </a:ext>
            </a:extLst>
          </p:cNvPr>
          <p:cNvSpPr>
            <a:spLocks noGrp="1"/>
          </p:cNvSpPr>
          <p:nvPr/>
        </p:nvSpPr>
        <p:spPr>
          <a:xfrm>
            <a:off x="381000" y="4152900"/>
            <a:ext cx="378142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System vs. consensus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2CE5043B-8FD4-42D9-8138-10F759CD7E80}"/>
              </a:ext>
            </a:extLst>
          </p:cNvPr>
          <p:cNvSpPr>
            <a:spLocks noGrp="1"/>
          </p:cNvSpPr>
          <p:nvPr/>
        </p:nvSpPr>
        <p:spPr>
          <a:xfrm>
            <a:off x="428625" y="4514850"/>
            <a:ext cx="3714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80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Pearson r = 0.88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B56333E7-25DA-4524-80F9-1BB533C8AA95}"/>
              </a:ext>
            </a:extLst>
          </p:cNvPr>
          <p:cNvSpPr>
            <a:spLocks noGrp="1"/>
          </p:cNvSpPr>
          <p:nvPr/>
        </p:nvSpPr>
        <p:spPr>
          <a:xfrm>
            <a:off x="4953000" y="4152900"/>
            <a:ext cx="37719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Clinician vs. clinician</a:t>
            </a:r>
          </a:p>
        </p:txBody>
      </p:sp>
      <p:sp>
        <p:nvSpPr>
          <p:cNvPr id="11" name="body">
            <a:extLst>
              <a:ext uri="{FF2B5EF4-FFF2-40B4-BE49-F238E27FC236}">
                <a16:creationId xmlns:a16="http://schemas.microsoft.com/office/drawing/2014/main" id="{A9AC1CE1-9A06-4AA3-ACF7-39F217C64EF5}"/>
              </a:ext>
            </a:extLst>
          </p:cNvPr>
          <p:cNvSpPr>
            <a:spLocks noGrp="1"/>
          </p:cNvSpPr>
          <p:nvPr/>
        </p:nvSpPr>
        <p:spPr>
          <a:xfrm>
            <a:off x="5029200" y="4514850"/>
            <a:ext cx="36861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80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Pearson r = 0.93</a:t>
            </a:r>
          </a:p>
        </p:txBody>
      </p:sp>
    </p:spTree>
    <p:extLst>
      <p:ext uri="{BB962C8B-B14F-4D97-AF65-F5344CB8AC3E}">
        <p14:creationId xmlns:p14="http://schemas.microsoft.com/office/powerpoint/2010/main" val="530916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C6CFE6B3-DA9C-4A14-A1C3-13BBFB1E8318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953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813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Robustness in Different Test Conditions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F6905394-BFE1-4999-9441-77C30082DD9E}"/>
              </a:ext>
            </a:extLst>
          </p:cNvPr>
          <p:cNvSpPr>
            <a:spLocks noGrp="1"/>
          </p:cNvSpPr>
          <p:nvPr/>
        </p:nvSpPr>
        <p:spPr>
          <a:xfrm>
            <a:off x="95250" y="561975"/>
            <a:ext cx="8934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Performance remains stable across rooms and walking distances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027FC6-0339-4AFE-90EF-9FAA7DFC9349}"/>
              </a:ext>
            </a:extLst>
          </p:cNvPr>
          <p:cNvSpPr>
            <a:spLocks noGrp="1"/>
          </p:cNvSpPr>
          <p:nvPr/>
        </p:nvSpPr>
        <p:spPr>
          <a:xfrm>
            <a:off x="0" y="4951286"/>
            <a:ext cx="4572000" cy="196787"/>
          </a:xfrm>
          <a:prstGeom prst="rect">
            <a:avLst/>
          </a:prstGeom>
          <a:solidFill>
            <a:srgbClr val="A7833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D48301-522F-4C58-80DA-393F17548556}"/>
              </a:ext>
            </a:extLst>
          </p:cNvPr>
          <p:cNvSpPr>
            <a:spLocks noGrp="1"/>
          </p:cNvSpPr>
          <p:nvPr/>
        </p:nvSpPr>
        <p:spPr>
          <a:xfrm>
            <a:off x="4572000" y="4951286"/>
            <a:ext cx="4572000" cy="196787"/>
          </a:xfrm>
          <a:prstGeom prst="rect">
            <a:avLst/>
          </a:prstGeom>
          <a:solidFill>
            <a:srgbClr val="00397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2D270586-9645-46F5-B9A9-1826B0D2F00B}"/>
              </a:ext>
            </a:extLst>
          </p:cNvPr>
          <p:cNvSpPr>
            <a:spLocks noGrp="1"/>
          </p:cNvSpPr>
          <p:nvPr/>
        </p:nvSpPr>
        <p:spPr>
          <a:xfrm>
            <a:off x="8743950" y="4962525"/>
            <a:ext cx="2667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7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0B119499-CFDE-4472-8397-A14BFF9A044F}"/>
              </a:ext>
            </a:extLst>
          </p:cNvPr>
          <p:cNvSpPr>
            <a:spLocks noGrp="1"/>
          </p:cNvSpPr>
          <p:nvPr/>
        </p:nvSpPr>
        <p:spPr>
          <a:xfrm>
            <a:off x="323850" y="1152525"/>
            <a:ext cx="39338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Path length (macro-F1)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617457C1-EFD5-4C95-B071-45693DCF028B}"/>
              </a:ext>
            </a:extLst>
          </p:cNvPr>
          <p:cNvGraphicFramePr/>
          <p:nvPr/>
        </p:nvGraphicFramePr>
        <p:xfrm>
          <a:off x="371475" y="1533525"/>
          <a:ext cx="382905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body">
            <a:extLst>
              <a:ext uri="{FF2B5EF4-FFF2-40B4-BE49-F238E27FC236}">
                <a16:creationId xmlns:a16="http://schemas.microsoft.com/office/drawing/2014/main" id="{9E02F845-0A87-4045-96CD-0C540DAC401A}"/>
              </a:ext>
            </a:extLst>
          </p:cNvPr>
          <p:cNvSpPr>
            <a:spLocks noGrp="1"/>
          </p:cNvSpPr>
          <p:nvPr/>
        </p:nvSpPr>
        <p:spPr>
          <a:xfrm>
            <a:off x="4752975" y="1152525"/>
            <a:ext cx="4048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Missing IMUs (macro-F1)</a:t>
            </a:r>
          </a:p>
        </p:txBody>
      </p:sp>
      <p:graphicFrame>
        <p:nvGraphicFramePr>
          <p:cNvPr id="9" name="Chart">
            <a:extLst>
              <a:ext uri="{FF2B5EF4-FFF2-40B4-BE49-F238E27FC236}">
                <a16:creationId xmlns:a16="http://schemas.microsoft.com/office/drawing/2014/main" id="{2C73B90B-C18C-4114-8E99-05238739C3BF}"/>
              </a:ext>
            </a:extLst>
          </p:cNvPr>
          <p:cNvGraphicFramePr/>
          <p:nvPr/>
        </p:nvGraphicFramePr>
        <p:xfrm>
          <a:off x="4676775" y="1533525"/>
          <a:ext cx="4086225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body">
            <a:extLst>
              <a:ext uri="{FF2B5EF4-FFF2-40B4-BE49-F238E27FC236}">
                <a16:creationId xmlns:a16="http://schemas.microsoft.com/office/drawing/2014/main" id="{F0C4C84F-E804-407A-A931-C35057E58893}"/>
              </a:ext>
            </a:extLst>
          </p:cNvPr>
          <p:cNvSpPr>
            <a:spLocks noGrp="1"/>
          </p:cNvSpPr>
          <p:nvPr/>
        </p:nvSpPr>
        <p:spPr>
          <a:xfrm>
            <a:off x="352425" y="4305300"/>
            <a:ext cx="39147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72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Corridor / room: 0.86 / 0.86 macro-F1</a:t>
            </a:r>
          </a:p>
        </p:txBody>
      </p:sp>
      <p:sp>
        <p:nvSpPr>
          <p:cNvPr id="11" name="body">
            <a:extLst>
              <a:ext uri="{FF2B5EF4-FFF2-40B4-BE49-F238E27FC236}">
                <a16:creationId xmlns:a16="http://schemas.microsoft.com/office/drawing/2014/main" id="{7395F46B-B6CC-4D80-B788-CB39DA4EFD1C}"/>
              </a:ext>
            </a:extLst>
          </p:cNvPr>
          <p:cNvSpPr>
            <a:spLocks noGrp="1"/>
          </p:cNvSpPr>
          <p:nvPr/>
        </p:nvSpPr>
        <p:spPr>
          <a:xfrm>
            <a:off x="4648200" y="4286250"/>
            <a:ext cx="4162425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72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The lumbar sensor contributes most</a:t>
            </a:r>
          </a:p>
          <a:p>
            <a:pPr algn="ctr">
              <a:defRPr sz="172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to robust scoring</a:t>
            </a:r>
          </a:p>
        </p:txBody>
      </p:sp>
    </p:spTree>
    <p:extLst>
      <p:ext uri="{BB962C8B-B14F-4D97-AF65-F5344CB8AC3E}">
        <p14:creationId xmlns:p14="http://schemas.microsoft.com/office/powerpoint/2010/main" val="689975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F4DB6921-20CC-4A76-8A54-AA3FC7C17C61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953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813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Clinician Feedback and Next Steps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C41EDC8-0B84-48AB-8319-9C6F1D250AFF}"/>
              </a:ext>
            </a:extLst>
          </p:cNvPr>
          <p:cNvSpPr>
            <a:spLocks noGrp="1"/>
          </p:cNvSpPr>
          <p:nvPr/>
        </p:nvSpPr>
        <p:spPr>
          <a:xfrm>
            <a:off x="95250" y="561975"/>
            <a:ext cx="8934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00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Four neurologists reviewed patient-level predictions and deployment needs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C369572-B74E-4802-A0A6-C005B36F18D4}"/>
              </a:ext>
            </a:extLst>
          </p:cNvPr>
          <p:cNvSpPr>
            <a:spLocks noGrp="1"/>
          </p:cNvSpPr>
          <p:nvPr/>
        </p:nvSpPr>
        <p:spPr>
          <a:xfrm>
            <a:off x="0" y="4951286"/>
            <a:ext cx="4572000" cy="196787"/>
          </a:xfrm>
          <a:prstGeom prst="rect">
            <a:avLst/>
          </a:prstGeom>
          <a:solidFill>
            <a:srgbClr val="A7833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04DC28B-35F5-4DCB-8AEE-B69F030F2002}"/>
              </a:ext>
            </a:extLst>
          </p:cNvPr>
          <p:cNvSpPr>
            <a:spLocks noGrp="1"/>
          </p:cNvSpPr>
          <p:nvPr/>
        </p:nvSpPr>
        <p:spPr>
          <a:xfrm>
            <a:off x="4572000" y="4951286"/>
            <a:ext cx="4572000" cy="196787"/>
          </a:xfrm>
          <a:prstGeom prst="rect">
            <a:avLst/>
          </a:prstGeom>
          <a:solidFill>
            <a:srgbClr val="00397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84029C86-7242-4AA5-BD0D-A83B173EBDAB}"/>
              </a:ext>
            </a:extLst>
          </p:cNvPr>
          <p:cNvSpPr>
            <a:spLocks noGrp="1"/>
          </p:cNvSpPr>
          <p:nvPr/>
        </p:nvSpPr>
        <p:spPr>
          <a:xfrm>
            <a:off x="8743950" y="4962525"/>
            <a:ext cx="2667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7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A4095417-F1D6-4AFE-8109-4653CCA2B9E0}"/>
              </a:ext>
            </a:extLst>
          </p:cNvPr>
          <p:cNvSpPr>
            <a:spLocks noGrp="1"/>
          </p:cNvSpPr>
          <p:nvPr/>
        </p:nvSpPr>
        <p:spPr>
          <a:xfrm>
            <a:off x="485775" y="1285875"/>
            <a:ext cx="317182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39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397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4.75 / 7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B7A7831D-C571-46AF-9D7F-BC7A9F1D4680}"/>
              </a:ext>
            </a:extLst>
          </p:cNvPr>
          <p:cNvSpPr>
            <a:spLocks noGrp="1"/>
          </p:cNvSpPr>
          <p:nvPr/>
        </p:nvSpPr>
        <p:spPr>
          <a:xfrm>
            <a:off x="457200" y="2076450"/>
            <a:ext cx="375285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95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Mean confidence in individual results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5F2CA410-2FAC-4AD3-BB96-2423F380E96E}"/>
              </a:ext>
            </a:extLst>
          </p:cNvPr>
          <p:cNvSpPr>
            <a:spLocks noGrp="1"/>
          </p:cNvSpPr>
          <p:nvPr/>
        </p:nvSpPr>
        <p:spPr>
          <a:xfrm>
            <a:off x="466725" y="3171825"/>
            <a:ext cx="3800475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100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Remote triage</a:t>
            </a:r>
          </a:p>
          <a:p>
            <a:pPr algn="l">
              <a:defRPr sz="2100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was the most selected use case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F36CDBD0-CA2F-4388-9735-20964DFDC03C}"/>
              </a:ext>
            </a:extLst>
          </p:cNvPr>
          <p:cNvSpPr>
            <a:spLocks noGrp="1"/>
          </p:cNvSpPr>
          <p:nvPr/>
        </p:nvSpPr>
        <p:spPr>
          <a:xfrm>
            <a:off x="5038725" y="1266825"/>
            <a:ext cx="35623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100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Priorities for home use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54E7948A-1404-40EB-AF15-9B92265C075E}"/>
              </a:ext>
            </a:extLst>
          </p:cNvPr>
          <p:cNvSpPr>
            <a:spLocks noGrp="1"/>
          </p:cNvSpPr>
          <p:nvPr/>
        </p:nvSpPr>
        <p:spPr>
          <a:xfrm>
            <a:off x="5048250" y="1847850"/>
            <a:ext cx="36195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95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Longitudinal reliability</a:t>
            </a:r>
          </a:p>
          <a:p>
            <a:pPr algn="l">
              <a:defRPr sz="195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and repeatability</a:t>
            </a:r>
          </a:p>
        </p:txBody>
      </p:sp>
      <p:sp>
        <p:nvSpPr>
          <p:cNvPr id="11" name="body">
            <a:extLst>
              <a:ext uri="{FF2B5EF4-FFF2-40B4-BE49-F238E27FC236}">
                <a16:creationId xmlns:a16="http://schemas.microsoft.com/office/drawing/2014/main" id="{7B5CB1FE-0E09-4417-9ECE-E39B5426A086}"/>
              </a:ext>
            </a:extLst>
          </p:cNvPr>
          <p:cNvSpPr>
            <a:spLocks noGrp="1"/>
          </p:cNvSpPr>
          <p:nvPr/>
        </p:nvSpPr>
        <p:spPr>
          <a:xfrm>
            <a:off x="5048250" y="2809875"/>
            <a:ext cx="36480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95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Clear interpretation of scores</a:t>
            </a:r>
          </a:p>
          <a:p>
            <a:pPr algn="l">
              <a:defRPr sz="195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and clinical oversight</a:t>
            </a:r>
          </a:p>
        </p:txBody>
      </p:sp>
      <p:sp>
        <p:nvSpPr>
          <p:cNvPr id="12" name="body">
            <a:extLst>
              <a:ext uri="{FF2B5EF4-FFF2-40B4-BE49-F238E27FC236}">
                <a16:creationId xmlns:a16="http://schemas.microsoft.com/office/drawing/2014/main" id="{C64A6AAB-49CB-41AD-A12E-A5786EAECBFE}"/>
              </a:ext>
            </a:extLst>
          </p:cNvPr>
          <p:cNvSpPr>
            <a:spLocks noGrp="1"/>
          </p:cNvSpPr>
          <p:nvPr/>
        </p:nvSpPr>
        <p:spPr>
          <a:xfrm>
            <a:off x="5048250" y="3762375"/>
            <a:ext cx="36480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95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Larger and more diverse</a:t>
            </a:r>
          </a:p>
          <a:p>
            <a:pPr algn="l">
              <a:defRPr sz="1950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external validation</a:t>
            </a:r>
          </a:p>
        </p:txBody>
      </p:sp>
    </p:spTree>
    <p:extLst>
      <p:ext uri="{BB962C8B-B14F-4D97-AF65-F5344CB8AC3E}">
        <p14:creationId xmlns:p14="http://schemas.microsoft.com/office/powerpoint/2010/main" val="205702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3C501613-699C-49D2-B046-12768D40ACF7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953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813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2813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Takeaways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E26D536-723C-4AB1-9C9B-58ADFC2A9FF1}"/>
              </a:ext>
            </a:extLst>
          </p:cNvPr>
          <p:cNvSpPr>
            <a:spLocks noGrp="1"/>
          </p:cNvSpPr>
          <p:nvPr/>
        </p:nvSpPr>
        <p:spPr>
          <a:xfrm>
            <a:off x="0" y="4951286"/>
            <a:ext cx="4572000" cy="196787"/>
          </a:xfrm>
          <a:prstGeom prst="rect">
            <a:avLst/>
          </a:prstGeom>
          <a:solidFill>
            <a:srgbClr val="A7833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12EEF6-8A3C-4EC2-9737-9BC9B8886472}"/>
              </a:ext>
            </a:extLst>
          </p:cNvPr>
          <p:cNvSpPr>
            <a:spLocks noGrp="1"/>
          </p:cNvSpPr>
          <p:nvPr/>
        </p:nvSpPr>
        <p:spPr>
          <a:xfrm>
            <a:off x="4572000" y="4951286"/>
            <a:ext cx="4572000" cy="196787"/>
          </a:xfrm>
          <a:prstGeom prst="rect">
            <a:avLst/>
          </a:prstGeom>
          <a:solidFill>
            <a:srgbClr val="00397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10507C9B-3B7B-481A-8F3B-C5DD2FCC13F2}"/>
              </a:ext>
            </a:extLst>
          </p:cNvPr>
          <p:cNvSpPr>
            <a:spLocks noGrp="1"/>
          </p:cNvSpPr>
          <p:nvPr/>
        </p:nvSpPr>
        <p:spPr>
          <a:xfrm>
            <a:off x="8743950" y="4962525"/>
            <a:ext cx="2667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r">
              <a:defRPr sz="137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7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D1EC5438-07D6-440B-9560-4E9B169D2F75}"/>
              </a:ext>
            </a:extLst>
          </p:cNvPr>
          <p:cNvSpPr>
            <a:spLocks noGrp="1"/>
          </p:cNvSpPr>
          <p:nvPr/>
        </p:nvSpPr>
        <p:spPr>
          <a:xfrm>
            <a:off x="666750" y="1076325"/>
            <a:ext cx="7810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Cognitive load reveals useful PIGD information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12777874-825B-43AC-9EBA-7F50F4DD4429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7810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72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Paired single-task and dual-task IMU signals support home assessment.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FDE1B0EA-C32D-4557-ABF1-F603FB436D8A}"/>
              </a:ext>
            </a:extLst>
          </p:cNvPr>
          <p:cNvSpPr>
            <a:spLocks noGrp="1"/>
          </p:cNvSpPr>
          <p:nvPr/>
        </p:nvSpPr>
        <p:spPr>
          <a:xfrm>
            <a:off x="666750" y="2314575"/>
            <a:ext cx="7810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One short protocol estimates all four items</a:t>
            </a:r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9C93BE9E-4DA2-4B4F-8664-DA9BDB907B57}"/>
              </a:ext>
            </a:extLst>
          </p:cNvPr>
          <p:cNvSpPr>
            <a:spLocks noGrp="1"/>
          </p:cNvSpPr>
          <p:nvPr/>
        </p:nvSpPr>
        <p:spPr>
          <a:xfrm>
            <a:off x="666750" y="2667000"/>
            <a:ext cx="7810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72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Three wearable IMUs and action-weighted scoring include postural stability.</a:t>
            </a:r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9DB6EE45-6E1E-4275-B152-32253FF28641}"/>
              </a:ext>
            </a:extLst>
          </p:cNvPr>
          <p:cNvSpPr>
            <a:spLocks noGrp="1"/>
          </p:cNvSpPr>
          <p:nvPr/>
        </p:nvSpPr>
        <p:spPr>
          <a:xfrm>
            <a:off x="666750" y="3552825"/>
            <a:ext cx="7810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7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Strong agreement in a 35-participant study</a:t>
            </a:r>
          </a:p>
        </p:txBody>
      </p:sp>
      <p:sp>
        <p:nvSpPr>
          <p:cNvPr id="10" name="body">
            <a:extLst>
              <a:ext uri="{FF2B5EF4-FFF2-40B4-BE49-F238E27FC236}">
                <a16:creationId xmlns:a16="http://schemas.microsoft.com/office/drawing/2014/main" id="{8D5D0655-E8DA-42F6-A7A1-2187FFE6647E}"/>
              </a:ext>
            </a:extLst>
          </p:cNvPr>
          <p:cNvSpPr>
            <a:spLocks noGrp="1"/>
          </p:cNvSpPr>
          <p:nvPr/>
        </p:nvSpPr>
        <p:spPr>
          <a:xfrm>
            <a:off x="666750" y="3905250"/>
            <a:ext cx="7810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725" b="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0.87 trial-level macro-F1 and Pearson r = 0.88 with clinician total scores.</a:t>
            </a:r>
          </a:p>
        </p:txBody>
      </p:sp>
    </p:spTree>
    <p:extLst>
      <p:ext uri="{BB962C8B-B14F-4D97-AF65-F5344CB8AC3E}">
        <p14:creationId xmlns:p14="http://schemas.microsoft.com/office/powerpoint/2010/main" val="1663511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C23B2EF-6CA3-4B5C-B1FD-D08DE105A3F0}"/>
              </a:ext>
            </a:extLst>
          </p:cNvPr>
          <p:cNvSpPr>
            <a:spLocks noGrp="1"/>
          </p:cNvSpPr>
          <p:nvPr/>
        </p:nvSpPr>
        <p:spPr>
          <a:xfrm>
            <a:off x="6729984" y="0"/>
            <a:ext cx="1216152" cy="2571750"/>
          </a:xfrm>
          <a:prstGeom prst="rect">
            <a:avLst/>
          </a:prstGeom>
          <a:solidFill>
            <a:srgbClr val="A7833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41ACD6-CF3E-4243-A53C-E8F777F7FE6C}"/>
              </a:ext>
            </a:extLst>
          </p:cNvPr>
          <p:cNvSpPr>
            <a:spLocks noGrp="1"/>
          </p:cNvSpPr>
          <p:nvPr/>
        </p:nvSpPr>
        <p:spPr>
          <a:xfrm>
            <a:off x="7955280" y="2571750"/>
            <a:ext cx="1188720" cy="1345311"/>
          </a:xfrm>
          <a:prstGeom prst="rect">
            <a:avLst/>
          </a:prstGeom>
          <a:solidFill>
            <a:srgbClr val="00397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A7A2CF9-FC61-478D-9726-DA91CB10EAF8}"/>
              </a:ext>
            </a:extLst>
          </p:cNvPr>
          <p:cNvSpPr>
            <a:spLocks noGrp="1"/>
          </p:cNvSpPr>
          <p:nvPr/>
        </p:nvSpPr>
        <p:spPr>
          <a:xfrm>
            <a:off x="800100" y="2276475"/>
            <a:ext cx="56864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541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5415" b="1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5415" b="1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Thank you!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7FB286E1-C759-4A30-B595-BB9343A1680F}"/>
              </a:ext>
            </a:extLst>
          </p:cNvPr>
          <p:cNvSpPr>
            <a:spLocks noGrp="1"/>
          </p:cNvSpPr>
          <p:nvPr/>
        </p:nvSpPr>
        <p:spPr>
          <a:xfrm>
            <a:off x="857250" y="3152775"/>
            <a:ext cx="5810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90" b="1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590" b="1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590" b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Yizhen Zhang: yzhangtf@connect.ust.hk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4A5F5A5D-63EF-4A0B-88A7-814AFB8D3ADE}"/>
              </a:ext>
            </a:extLst>
          </p:cNvPr>
          <p:cNvSpPr>
            <a:spLocks noGrp="1"/>
          </p:cNvSpPr>
          <p:nvPr/>
        </p:nvSpPr>
        <p:spPr>
          <a:xfrm>
            <a:off x="857250" y="3771900"/>
            <a:ext cx="58102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575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Paper: doi.org/10.1145/3810193</a:t>
            </a:r>
          </a:p>
          <a:p>
            <a:pPr algn="l">
              <a:defRPr sz="1575" b="0">
                <a:solidFill>
                  <a:srgbClr val="003974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003974"/>
                </a:solidFill>
                <a:latin typeface="Calibri"/>
                <a:ea typeface="Calibri"/>
                <a:cs typeface="Calibri"/>
              </a:rPr>
              <a:t>Dataset: zenodo.org/records/19450832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5E53BE62-3C59-438D-B6DC-8775A6D65D18}"/>
              </a:ext>
            </a:extLst>
          </p:cNvPr>
          <p:cNvSpPr>
            <a:spLocks noGrp="1"/>
          </p:cNvSpPr>
          <p:nvPr/>
        </p:nvSpPr>
        <p:spPr>
          <a:xfrm>
            <a:off x="8743950" y="4962525"/>
            <a:ext cx="266700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73" b="1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r">
              <a:defRPr sz="1373" b="1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373" b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5063112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1511</TotalTime>
  <Words>945</Words>
  <Application>Microsoft Macintosh PowerPoint</Application>
  <DocSecurity>0</DocSecurity>
  <PresentationFormat>自定义</PresentationFormat>
  <Paragraphs>204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4" baseType="lpstr">
      <vt:lpstr>Aptos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ZHANG Yizhen</cp:lastModifiedBy>
  <cp:revision>1</cp:revision>
  <dcterms:created xsi:type="dcterms:W3CDTF">2026-10-09T07:37:33Z</dcterms:created>
  <dcterms:modified xsi:type="dcterms:W3CDTF">2026-10-23T05:22:08Z</dcterms:modified>
</cp:coreProperties>
</file>